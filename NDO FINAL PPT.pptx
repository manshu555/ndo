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onsolas" panose="020B0609020204030204" pitchFamily="49" charset="0"/>
      <p:regular r:id="rId12"/>
      <p:bold r:id="rId13"/>
      <p:italic r:id="rId14"/>
      <p:boldItalic r:id="rId15"/>
    </p:embeddedFont>
    <p:embeddedFont>
      <p:font typeface="Familjen Grotesk Bold" panose="020B0604020202020204" charset="0"/>
      <p:regular r:id="rId16"/>
    </p:embeddedFont>
    <p:embeddedFont>
      <p:font typeface="Onest" panose="020B0604020202020204" charset="0"/>
      <p:regular r:id="rId17"/>
    </p:embeddedFont>
    <p:embeddedFont>
      <p:font typeface="Onest Semi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026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 present our research on optimizing Destination-Sequenced Distance-Vector (DSDV) routing in Mobile Ad-Hoc Networks using Grey Wolf Optimisation. I will introduce the mobility problem and our tuning architecture, followed by my colleagues who will explain the protocol mechanics, algorithm, and simulation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DSDV uses fixed default timers established for low-mobility setups: 15-second update intervals, 6-second settling delays, 64-packet queues, and 30-second queue times. When mobile nodes travel at 5 to 20 meters per second, these defaults create an impossible tension: slow updates lead to stale routes and packet loss, while fast updates saturate the wireless channel with table broadcasts. Our goal is automating this trade-off.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closed-loop architecture. In each iteration, each wolf in the pack proposes a candidate 4D parameter vector. The simulator executes a dynamic MANET mobility trial, records packet metrics, and computes a composite fitness score. Because we tune only the timer and buffer parameters rather than the routing logic itself, DSDV's sequence-number loop-freedom property is strictly preserved.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Abhinav, and I will explain how DSDV processes route updates. Every routing entry maintains destination, next-hop, metric m, sequence number S, and installation time. An advertisement is accepted if its sequence number is strictly greater, or if equal, has a lower hop count. Settling delay prevents advertising suboptimal routes prematurely, while link breaks are advertised immediately with an infinite metric and an odd sequence number.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Wolf Optimisation uses a leadership hierarchy where alpha, beta, and delta encircle prey. Vectors A and C control balance: parameter a decreases from 2 to 0, ensuring broad exploration when absolute A exceeds 1, and fine exploitation when absolute A is under 1. Before applying GWO to MANET, we validated the algorithm on Sphere and Rastrigin functions, achieving near-perfect convergence to machine precision.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Manshu. Our discrete-event simulation engine steps at 0.1-second resolution using Random Waypoint mobility, unit-disk links with 250-meter radio range, and constant bit-rate UDP traffic. The fitness function balances delivery ratio, delay, and overhead. Delivery loss receives highest priority with a 0.5 weight. If an unstable parameter vector disconnects the network or drops all packets, a harsh plus-10 penalty eliminates that candidate.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rigorously test GWO, we bounded the 4D parameter space around standard operating values and defined three increasingly challenging scenarios: Small with 15 nodes, Medium with 20 nodes, and High Mobility where node velocities reach 20 meters per second. Ten grey wolves iteratively explored these bounds across multiple random seeds to avoid overfitting to a single mobility trace.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Ayush Gautam, concluding our findings. GWO converged on an intuitive policy: broadcast updates roughly three times more frequently around 5.5 seconds, halve the settling delay, and expand queue capacity to ~110 packets. Across all scenarios, packet delivery ratio jumped by 30% to nearly 60%, with p-values proving high statistical significance. Overhead rose moderately from 0.60 to 0.80, while end-to-end latency remained below 9 milliseconds. Thank you, and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Our team: Soham Patil, Abhinav Arya, Manshu Jaiswal, and Ayush Gautam.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D174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2037457"/>
            <a:ext cx="3213813" cy="283865"/>
          </a:xfrm>
          <a:prstGeom prst="roundRect">
            <a:avLst>
              <a:gd name="adj" fmla="val 32212"/>
            </a:avLst>
          </a:prstGeom>
          <a:solidFill>
            <a:srgbClr val="7FA6F2"/>
          </a:solidFill>
          <a:ln/>
        </p:spPr>
      </p:sp>
      <p:sp>
        <p:nvSpPr>
          <p:cNvPr id="3" name="Text 1"/>
          <p:cNvSpPr/>
          <p:nvPr/>
        </p:nvSpPr>
        <p:spPr>
          <a:xfrm>
            <a:off x="723882" y="2085856"/>
            <a:ext cx="3594804"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0D174F"/>
                </a:solidFill>
                <a:latin typeface="Onest SemiBold" pitchFamily="34" charset="0"/>
                <a:ea typeface="Onest SemiBold" pitchFamily="34" charset="-122"/>
                <a:cs typeface="Onest SemiBold" pitchFamily="34" charset="0"/>
              </a:rPr>
              <a:t>MANET ROUTING OPTIMISATION</a:t>
            </a:r>
            <a:endParaRPr lang="en-US" sz="1300" dirty="0"/>
          </a:p>
        </p:txBody>
      </p:sp>
      <p:sp>
        <p:nvSpPr>
          <p:cNvPr id="4" name="Text 2"/>
          <p:cNvSpPr/>
          <p:nvPr/>
        </p:nvSpPr>
        <p:spPr>
          <a:xfrm>
            <a:off x="609585" y="2493886"/>
            <a:ext cx="10972526" cy="1139825"/>
          </a:xfrm>
          <a:prstGeom prst="rect">
            <a:avLst/>
          </a:prstGeom>
          <a:noFill/>
          <a:ln/>
        </p:spPr>
        <p:txBody>
          <a:bodyPr wrap="square" lIns="0" tIns="0" rIns="0" bIns="0" rtlCol="0" anchor="t">
            <a:normAutofit/>
          </a:bodyPr>
          <a:lstStyle/>
          <a:p>
            <a:pPr marL="0" indent="0" algn="l">
              <a:lnSpc>
                <a:spcPct val="85000"/>
              </a:lnSpc>
              <a:buNone/>
            </a:pPr>
            <a:r>
              <a:rPr lang="en-US" sz="4400" b="1" kern="100" spc="-110" dirty="0">
                <a:solidFill>
                  <a:srgbClr val="FFFFFF"/>
                </a:solidFill>
                <a:latin typeface="Familjen Grotesk Bold" pitchFamily="34" charset="0"/>
                <a:ea typeface="Familjen Grotesk Bold" pitchFamily="34" charset="-122"/>
                <a:cs typeface="Familjen Grotesk Bold" pitchFamily="34" charset="0"/>
              </a:rPr>
              <a:t>DSDV Routing Optimisation Using </a:t>
            </a:r>
            <a:r>
              <a:rPr lang="en-US" sz="4400" b="1" kern="100" spc="-110" dirty="0">
                <a:solidFill>
                  <a:srgbClr val="7FA6F2"/>
                </a:solidFill>
                <a:latin typeface="Familjen Grotesk Bold" pitchFamily="34" charset="0"/>
                <a:ea typeface="Familjen Grotesk Bold" pitchFamily="34" charset="-122"/>
                <a:cs typeface="Familjen Grotesk Bold" pitchFamily="34" charset="0"/>
              </a:rPr>
              <a:t>Grey Wolf Optimisation</a:t>
            </a:r>
            <a:endParaRPr lang="en-US" sz="4400" dirty="0"/>
          </a:p>
        </p:txBody>
      </p:sp>
      <p:sp>
        <p:nvSpPr>
          <p:cNvPr id="5" name="Shape 3"/>
          <p:cNvSpPr/>
          <p:nvPr/>
        </p:nvSpPr>
        <p:spPr>
          <a:xfrm>
            <a:off x="609585" y="3878659"/>
            <a:ext cx="711182" cy="31651"/>
          </a:xfrm>
          <a:prstGeom prst="roundRect">
            <a:avLst>
              <a:gd name="adj" fmla="val 49998"/>
            </a:avLst>
          </a:prstGeom>
          <a:solidFill>
            <a:srgbClr val="7FA6F2"/>
          </a:solidFill>
          <a:ln/>
        </p:spPr>
      </p:sp>
      <p:sp>
        <p:nvSpPr>
          <p:cNvPr id="6" name="Text 4"/>
          <p:cNvSpPr/>
          <p:nvPr/>
        </p:nvSpPr>
        <p:spPr>
          <a:xfrm>
            <a:off x="609585" y="4137422"/>
            <a:ext cx="11582110" cy="315416"/>
          </a:xfrm>
          <a:prstGeom prst="rect">
            <a:avLst/>
          </a:prstGeom>
          <a:noFill/>
          <a:ln/>
        </p:spPr>
        <p:txBody>
          <a:bodyPr wrap="none" lIns="0" tIns="0" rIns="0" bIns="0" rtlCol="0" anchor="t"/>
          <a:lstStyle/>
          <a:p>
            <a:pPr marL="0" indent="0" algn="l">
              <a:lnSpc>
                <a:spcPct val="115000"/>
              </a:lnSpc>
              <a:buNone/>
            </a:pPr>
            <a:r>
              <a:rPr lang="en-US" sz="1800" kern="100" spc="36" dirty="0">
                <a:solidFill>
                  <a:srgbClr val="E9EEFF"/>
                </a:solidFill>
                <a:latin typeface="Onest" pitchFamily="34" charset="0"/>
                <a:ea typeface="Onest" pitchFamily="34" charset="-122"/>
                <a:cs typeface="Onest" pitchFamily="34" charset="0"/>
              </a:rPr>
              <a:t>Enhancing dynamic MANET performance through metaheuristic parameter tuning</a:t>
            </a:r>
            <a:endParaRPr lang="en-US" sz="1800" dirty="0"/>
          </a:p>
        </p:txBody>
      </p:sp>
      <p:sp>
        <p:nvSpPr>
          <p:cNvPr id="7" name="Text 5"/>
          <p:cNvSpPr/>
          <p:nvPr/>
        </p:nvSpPr>
        <p:spPr>
          <a:xfrm>
            <a:off x="609585" y="4630797"/>
            <a:ext cx="11582110"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B4C2EC"/>
                </a:solidFill>
                <a:latin typeface="Onest" pitchFamily="34" charset="0"/>
                <a:ea typeface="Onest" pitchFamily="34" charset="-122"/>
                <a:cs typeface="Onest" pitchFamily="34" charset="0"/>
              </a:rPr>
              <a:t>Team: Soham Patil 2023IMT-080 · Abhinav Arya 2023IMT-002 · Manshu Jaiswal 2023IMT-051 · Ayush Gautam 2023IMT-022</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09585" y="883345"/>
            <a:ext cx="2946525" cy="283865"/>
          </a:xfrm>
          <a:prstGeom prst="roundRect">
            <a:avLst>
              <a:gd name="adj" fmla="val 32212"/>
            </a:avLst>
          </a:prstGeom>
          <a:solidFill>
            <a:srgbClr val="7FA6F2"/>
          </a:solidFill>
          <a:ln/>
        </p:spPr>
      </p:sp>
      <p:sp>
        <p:nvSpPr>
          <p:cNvPr id="3" name="Text 1"/>
          <p:cNvSpPr/>
          <p:nvPr/>
        </p:nvSpPr>
        <p:spPr>
          <a:xfrm>
            <a:off x="723882" y="931743"/>
            <a:ext cx="3327515"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0D174F"/>
                </a:solidFill>
                <a:latin typeface="Onest SemiBold" pitchFamily="34" charset="0"/>
                <a:ea typeface="Onest SemiBold" pitchFamily="34" charset="-122"/>
                <a:cs typeface="Onest SemiBold" pitchFamily="34" charset="0"/>
              </a:rPr>
              <a:t>01 · PROBLEM FORMULATION</a:t>
            </a:r>
            <a:endParaRPr lang="en-US" sz="1300" dirty="0"/>
          </a:p>
        </p:txBody>
      </p:sp>
      <p:sp>
        <p:nvSpPr>
          <p:cNvPr id="4" name="Text 2"/>
          <p:cNvSpPr/>
          <p:nvPr/>
        </p:nvSpPr>
        <p:spPr>
          <a:xfrm>
            <a:off x="609585" y="1404645"/>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0"/>
              </a:rPr>
              <a:t>Static DSDV timers </a:t>
            </a:r>
            <a:r>
              <a:rPr lang="en-US" sz="3400" b="1" kern="100" spc="-85" dirty="0">
                <a:solidFill>
                  <a:srgbClr val="7FA6F2"/>
                </a:solidFill>
                <a:latin typeface="Familjen Grotesk Bold" pitchFamily="34" charset="0"/>
                <a:ea typeface="Familjen Grotesk Bold" pitchFamily="34" charset="-122"/>
                <a:cs typeface="Familjen Grotesk Bold" pitchFamily="34" charset="0"/>
              </a:rPr>
              <a:t>break when nodes move fast</a:t>
            </a:r>
            <a:endParaRPr lang="en-US" sz="3400" dirty="0"/>
          </a:p>
        </p:txBody>
      </p:sp>
      <p:sp>
        <p:nvSpPr>
          <p:cNvPr id="5" name="Text 3"/>
          <p:cNvSpPr/>
          <p:nvPr/>
        </p:nvSpPr>
        <p:spPr>
          <a:xfrm>
            <a:off x="609585" y="1979116"/>
            <a:ext cx="10972526" cy="342900"/>
          </a:xfrm>
          <a:prstGeom prst="rect">
            <a:avLst/>
          </a:prstGeom>
          <a:noFill/>
          <a:ln/>
        </p:spPr>
        <p:txBody>
          <a:bodyPr wrap="none" lIns="0" tIns="0" rIns="0" bIns="0" rtlCol="0" anchor="t"/>
          <a:lstStyle/>
          <a:p>
            <a:pPr marL="0" indent="0" algn="l">
              <a:lnSpc>
                <a:spcPct val="112000"/>
              </a:lnSpc>
              <a:buNone/>
            </a:pPr>
            <a:r>
              <a:rPr lang="en-US" sz="2000" dirty="0">
                <a:solidFill>
                  <a:srgbClr val="B4C2EC"/>
                </a:solidFill>
                <a:latin typeface="Onest" pitchFamily="34" charset="0"/>
                <a:ea typeface="Onest" pitchFamily="34" charset="-122"/>
                <a:cs typeface="Onest" pitchFamily="34" charset="0"/>
              </a:rPr>
              <a:t>Default protocol parameters fail across mobile ad-hoc topologies under high node velocity.</a:t>
            </a:r>
            <a:endParaRPr lang="en-US" sz="2000" dirty="0"/>
          </a:p>
        </p:txBody>
      </p:sp>
      <p:sp>
        <p:nvSpPr>
          <p:cNvPr id="6" name="Shape 4"/>
          <p:cNvSpPr/>
          <p:nvPr/>
        </p:nvSpPr>
        <p:spPr>
          <a:xfrm>
            <a:off x="609585" y="2499816"/>
            <a:ext cx="5333867" cy="1986459"/>
          </a:xfrm>
          <a:prstGeom prst="roundRect">
            <a:avLst>
              <a:gd name="adj" fmla="val 6137"/>
            </a:avLst>
          </a:prstGeom>
          <a:solidFill>
            <a:srgbClr val="152060"/>
          </a:solidFill>
          <a:ln w="6350">
            <a:solidFill>
              <a:srgbClr val="2B3A80"/>
            </a:solidFill>
            <a:prstDash val="solid"/>
          </a:ln>
        </p:spPr>
      </p:sp>
      <p:sp>
        <p:nvSpPr>
          <p:cNvPr id="7" name="Text 5"/>
          <p:cNvSpPr/>
          <p:nvPr/>
        </p:nvSpPr>
        <p:spPr>
          <a:xfrm>
            <a:off x="869928" y="2737941"/>
            <a:ext cx="5073523"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6A3D"/>
                </a:solidFill>
                <a:latin typeface="Onest SemiBold" pitchFamily="34" charset="0"/>
                <a:ea typeface="Onest SemiBold" pitchFamily="34" charset="-122"/>
                <a:cs typeface="Onest SemiBold" pitchFamily="34" charset="0"/>
              </a:rPr>
              <a:t>FAILURE MODE A</a:t>
            </a:r>
            <a:endParaRPr lang="en-US" sz="1050" dirty="0"/>
          </a:p>
        </p:txBody>
      </p:sp>
      <p:sp>
        <p:nvSpPr>
          <p:cNvPr id="8" name="Text 6"/>
          <p:cNvSpPr/>
          <p:nvPr/>
        </p:nvSpPr>
        <p:spPr>
          <a:xfrm>
            <a:off x="869928" y="2974082"/>
            <a:ext cx="4813180" cy="377130"/>
          </a:xfrm>
          <a:prstGeom prst="rect">
            <a:avLst/>
          </a:prstGeom>
          <a:noFill/>
          <a:ln/>
        </p:spPr>
        <p:txBody>
          <a:bodyPr wrap="none" lIns="0" tIns="0" rIns="0" bIns="0" rtlCol="0" anchor="t"/>
          <a:lstStyle/>
          <a:p>
            <a:pPr marL="0" indent="0" algn="l">
              <a:lnSpc>
                <a:spcPct val="113000"/>
              </a:lnSpc>
              <a:buNone/>
            </a:pPr>
            <a:r>
              <a:rPr lang="en-US" sz="2200" kern="100" spc="-66" dirty="0">
                <a:solidFill>
                  <a:srgbClr val="E9EEFF"/>
                </a:solidFill>
                <a:latin typeface="Onest" pitchFamily="34" charset="0"/>
                <a:ea typeface="Onest" pitchFamily="34" charset="-122"/>
                <a:cs typeface="Onest" pitchFamily="34" charset="0"/>
              </a:rPr>
              <a:t>Stale Routes &amp; Drops</a:t>
            </a:r>
            <a:endParaRPr lang="en-US" sz="2200" dirty="0"/>
          </a:p>
        </p:txBody>
      </p:sp>
      <p:sp>
        <p:nvSpPr>
          <p:cNvPr id="9" name="Text 7"/>
          <p:cNvSpPr/>
          <p:nvPr/>
        </p:nvSpPr>
        <p:spPr>
          <a:xfrm>
            <a:off x="869928" y="3541713"/>
            <a:ext cx="4813180" cy="709613"/>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At speeds of 5–20 m/s, link topology changes before the 15 s periodic update broadcasts. Packets hit broken links, causing severe packet loss and dropped flows.</a:t>
            </a:r>
            <a:endParaRPr lang="en-US" sz="1350" dirty="0"/>
          </a:p>
        </p:txBody>
      </p:sp>
      <p:sp>
        <p:nvSpPr>
          <p:cNvPr id="10" name="Shape 8"/>
          <p:cNvSpPr/>
          <p:nvPr/>
        </p:nvSpPr>
        <p:spPr>
          <a:xfrm>
            <a:off x="6248244" y="2499816"/>
            <a:ext cx="5333867" cy="1986459"/>
          </a:xfrm>
          <a:prstGeom prst="roundRect">
            <a:avLst>
              <a:gd name="adj" fmla="val 6137"/>
            </a:avLst>
          </a:prstGeom>
          <a:solidFill>
            <a:srgbClr val="152060"/>
          </a:solidFill>
          <a:ln w="6350">
            <a:solidFill>
              <a:srgbClr val="2B3A80"/>
            </a:solidFill>
            <a:prstDash val="solid"/>
          </a:ln>
        </p:spPr>
      </p:sp>
      <p:sp>
        <p:nvSpPr>
          <p:cNvPr id="11" name="Text 9"/>
          <p:cNvSpPr/>
          <p:nvPr/>
        </p:nvSpPr>
        <p:spPr>
          <a:xfrm>
            <a:off x="6508587" y="2737941"/>
            <a:ext cx="5073523"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C233"/>
                </a:solidFill>
                <a:latin typeface="Onest SemiBold" pitchFamily="34" charset="0"/>
                <a:ea typeface="Onest SemiBold" pitchFamily="34" charset="-122"/>
                <a:cs typeface="Onest SemiBold" pitchFamily="34" charset="0"/>
              </a:rPr>
              <a:t>FAILURE MODE B</a:t>
            </a:r>
            <a:endParaRPr lang="en-US" sz="1050" dirty="0"/>
          </a:p>
        </p:txBody>
      </p:sp>
      <p:sp>
        <p:nvSpPr>
          <p:cNvPr id="12" name="Text 10"/>
          <p:cNvSpPr/>
          <p:nvPr/>
        </p:nvSpPr>
        <p:spPr>
          <a:xfrm>
            <a:off x="6508587" y="2974082"/>
            <a:ext cx="4813180" cy="377130"/>
          </a:xfrm>
          <a:prstGeom prst="rect">
            <a:avLst/>
          </a:prstGeom>
          <a:noFill/>
          <a:ln/>
        </p:spPr>
        <p:txBody>
          <a:bodyPr wrap="none" lIns="0" tIns="0" rIns="0" bIns="0" rtlCol="0" anchor="t"/>
          <a:lstStyle/>
          <a:p>
            <a:pPr marL="0" indent="0" algn="l">
              <a:lnSpc>
                <a:spcPct val="113000"/>
              </a:lnSpc>
              <a:buNone/>
            </a:pPr>
            <a:r>
              <a:rPr lang="en-US" sz="2200" kern="100" spc="-66" dirty="0">
                <a:solidFill>
                  <a:srgbClr val="E9EEFF"/>
                </a:solidFill>
                <a:latin typeface="Onest" pitchFamily="34" charset="0"/>
                <a:ea typeface="Onest" pitchFamily="34" charset="-122"/>
                <a:cs typeface="Onest" pitchFamily="34" charset="0"/>
              </a:rPr>
              <a:t>Overhead &amp; Congestion</a:t>
            </a:r>
            <a:endParaRPr lang="en-US" sz="2200" dirty="0"/>
          </a:p>
        </p:txBody>
      </p:sp>
      <p:sp>
        <p:nvSpPr>
          <p:cNvPr id="13" name="Text 11"/>
          <p:cNvSpPr/>
          <p:nvPr/>
        </p:nvSpPr>
        <p:spPr>
          <a:xfrm>
            <a:off x="6508587" y="3541713"/>
            <a:ext cx="4813180" cy="709613"/>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Overly aggressive broadcast frequencies flood wireless bandwidth with routing tables, queueing data frames and triggering radio contention collapses.</a:t>
            </a:r>
            <a:endParaRPr lang="en-US" sz="1350" dirty="0"/>
          </a:p>
        </p:txBody>
      </p:sp>
      <p:sp>
        <p:nvSpPr>
          <p:cNvPr id="14" name="Shape 12"/>
          <p:cNvSpPr/>
          <p:nvPr/>
        </p:nvSpPr>
        <p:spPr>
          <a:xfrm>
            <a:off x="609585" y="4664075"/>
            <a:ext cx="2628834" cy="993676"/>
          </a:xfrm>
          <a:prstGeom prst="roundRect">
            <a:avLst>
              <a:gd name="adj" fmla="val 12269"/>
            </a:avLst>
          </a:prstGeom>
          <a:solidFill>
            <a:srgbClr val="080E33"/>
          </a:solidFill>
          <a:ln w="6350">
            <a:solidFill>
              <a:srgbClr val="2B3A80"/>
            </a:solidFill>
            <a:prstDash val="solid"/>
          </a:ln>
        </p:spPr>
      </p:sp>
      <p:sp>
        <p:nvSpPr>
          <p:cNvPr id="15" name="Text 13"/>
          <p:cNvSpPr/>
          <p:nvPr/>
        </p:nvSpPr>
        <p:spPr>
          <a:xfrm>
            <a:off x="793730" y="4822984"/>
            <a:ext cx="2444689"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FFFFFF"/>
                </a:solidFill>
                <a:latin typeface="Onest" pitchFamily="34" charset="0"/>
                <a:ea typeface="Onest" pitchFamily="34" charset="-122"/>
                <a:cs typeface="Onest" pitchFamily="34" charset="0"/>
              </a:rPr>
              <a:t>Periodic Update</a:t>
            </a:r>
            <a:endParaRPr lang="en-US" sz="1150" dirty="0"/>
          </a:p>
        </p:txBody>
      </p:sp>
      <p:sp>
        <p:nvSpPr>
          <p:cNvPr id="16" name="Text 14"/>
          <p:cNvSpPr/>
          <p:nvPr/>
        </p:nvSpPr>
        <p:spPr>
          <a:xfrm>
            <a:off x="793730" y="5190430"/>
            <a:ext cx="2260543" cy="308570"/>
          </a:xfrm>
          <a:prstGeom prst="rect">
            <a:avLst/>
          </a:prstGeom>
          <a:noFill/>
          <a:ln/>
        </p:spPr>
        <p:txBody>
          <a:bodyPr wrap="none" lIns="0" tIns="0" rIns="0" bIns="0" rtlCol="0" anchor="t"/>
          <a:lstStyle/>
          <a:p>
            <a:pPr marL="0" indent="0" algn="l">
              <a:lnSpc>
                <a:spcPct val="113000"/>
              </a:lnSpc>
              <a:buNone/>
            </a:pPr>
            <a:r>
              <a:rPr lang="en-US" sz="1800" dirty="0">
                <a:solidFill>
                  <a:srgbClr val="FFFFFF"/>
                </a:solidFill>
                <a:latin typeface="Onest" pitchFamily="34" charset="0"/>
                <a:ea typeface="Onest" pitchFamily="34" charset="-122"/>
                <a:cs typeface="Onest" pitchFamily="34" charset="0"/>
              </a:rPr>
              <a:t>15 s default</a:t>
            </a:r>
            <a:endParaRPr lang="en-US" sz="1800" dirty="0"/>
          </a:p>
        </p:txBody>
      </p:sp>
      <p:sp>
        <p:nvSpPr>
          <p:cNvPr id="17" name="Shape 15"/>
          <p:cNvSpPr/>
          <p:nvPr/>
        </p:nvSpPr>
        <p:spPr>
          <a:xfrm>
            <a:off x="3390815" y="4664075"/>
            <a:ext cx="2628834" cy="993676"/>
          </a:xfrm>
          <a:prstGeom prst="roundRect">
            <a:avLst>
              <a:gd name="adj" fmla="val 12269"/>
            </a:avLst>
          </a:prstGeom>
          <a:solidFill>
            <a:srgbClr val="080E33"/>
          </a:solidFill>
          <a:ln w="6350">
            <a:solidFill>
              <a:srgbClr val="2B3A80"/>
            </a:solidFill>
            <a:prstDash val="solid"/>
          </a:ln>
        </p:spPr>
      </p:sp>
      <p:sp>
        <p:nvSpPr>
          <p:cNvPr id="18" name="Text 16"/>
          <p:cNvSpPr/>
          <p:nvPr/>
        </p:nvSpPr>
        <p:spPr>
          <a:xfrm>
            <a:off x="3574961" y="4822984"/>
            <a:ext cx="2444689"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FFFFFF"/>
                </a:solidFill>
                <a:latin typeface="Onest" pitchFamily="34" charset="0"/>
                <a:ea typeface="Onest" pitchFamily="34" charset="-122"/>
                <a:cs typeface="Onest" pitchFamily="34" charset="0"/>
              </a:rPr>
              <a:t>Settling Time</a:t>
            </a:r>
            <a:endParaRPr lang="en-US" sz="1150" dirty="0"/>
          </a:p>
        </p:txBody>
      </p:sp>
      <p:sp>
        <p:nvSpPr>
          <p:cNvPr id="19" name="Text 17"/>
          <p:cNvSpPr/>
          <p:nvPr/>
        </p:nvSpPr>
        <p:spPr>
          <a:xfrm>
            <a:off x="3574961" y="5190430"/>
            <a:ext cx="2260543" cy="308570"/>
          </a:xfrm>
          <a:prstGeom prst="rect">
            <a:avLst/>
          </a:prstGeom>
          <a:noFill/>
          <a:ln/>
        </p:spPr>
        <p:txBody>
          <a:bodyPr wrap="none" lIns="0" tIns="0" rIns="0" bIns="0" rtlCol="0" anchor="t"/>
          <a:lstStyle/>
          <a:p>
            <a:pPr marL="0" indent="0" algn="l">
              <a:lnSpc>
                <a:spcPct val="113000"/>
              </a:lnSpc>
              <a:buNone/>
            </a:pPr>
            <a:r>
              <a:rPr lang="en-US" sz="1800" dirty="0">
                <a:solidFill>
                  <a:srgbClr val="FFFFFF"/>
                </a:solidFill>
                <a:latin typeface="Onest" pitchFamily="34" charset="0"/>
                <a:ea typeface="Onest" pitchFamily="34" charset="-122"/>
                <a:cs typeface="Onest" pitchFamily="34" charset="0"/>
              </a:rPr>
              <a:t>6 s default</a:t>
            </a:r>
            <a:endParaRPr lang="en-US" sz="1800" dirty="0"/>
          </a:p>
        </p:txBody>
      </p:sp>
      <p:sp>
        <p:nvSpPr>
          <p:cNvPr id="20" name="Shape 18"/>
          <p:cNvSpPr/>
          <p:nvPr/>
        </p:nvSpPr>
        <p:spPr>
          <a:xfrm>
            <a:off x="6172046" y="4664075"/>
            <a:ext cx="2628834" cy="993676"/>
          </a:xfrm>
          <a:prstGeom prst="roundRect">
            <a:avLst>
              <a:gd name="adj" fmla="val 12269"/>
            </a:avLst>
          </a:prstGeom>
          <a:solidFill>
            <a:srgbClr val="080E33"/>
          </a:solidFill>
          <a:ln w="6350">
            <a:solidFill>
              <a:srgbClr val="2B3A80"/>
            </a:solidFill>
            <a:prstDash val="solid"/>
          </a:ln>
        </p:spPr>
      </p:sp>
      <p:sp>
        <p:nvSpPr>
          <p:cNvPr id="21" name="Text 19"/>
          <p:cNvSpPr/>
          <p:nvPr/>
        </p:nvSpPr>
        <p:spPr>
          <a:xfrm>
            <a:off x="6356191" y="4822984"/>
            <a:ext cx="2444689"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FFFFFF"/>
                </a:solidFill>
                <a:latin typeface="Onest" pitchFamily="34" charset="0"/>
                <a:ea typeface="Onest" pitchFamily="34" charset="-122"/>
                <a:cs typeface="Onest" pitchFamily="34" charset="0"/>
              </a:rPr>
              <a:t>Queue Length</a:t>
            </a:r>
            <a:endParaRPr lang="en-US" sz="1150" dirty="0"/>
          </a:p>
        </p:txBody>
      </p:sp>
      <p:sp>
        <p:nvSpPr>
          <p:cNvPr id="22" name="Text 20"/>
          <p:cNvSpPr/>
          <p:nvPr/>
        </p:nvSpPr>
        <p:spPr>
          <a:xfrm>
            <a:off x="6356191" y="5190430"/>
            <a:ext cx="2260543" cy="308570"/>
          </a:xfrm>
          <a:prstGeom prst="rect">
            <a:avLst/>
          </a:prstGeom>
          <a:noFill/>
          <a:ln/>
        </p:spPr>
        <p:txBody>
          <a:bodyPr wrap="none" lIns="0" tIns="0" rIns="0" bIns="0" rtlCol="0" anchor="t"/>
          <a:lstStyle/>
          <a:p>
            <a:pPr marL="0" indent="0" algn="l">
              <a:lnSpc>
                <a:spcPct val="113000"/>
              </a:lnSpc>
              <a:buNone/>
            </a:pPr>
            <a:r>
              <a:rPr lang="en-US" sz="1800" dirty="0">
                <a:solidFill>
                  <a:srgbClr val="FFFFFF"/>
                </a:solidFill>
                <a:latin typeface="Onest" pitchFamily="34" charset="0"/>
                <a:ea typeface="Onest" pitchFamily="34" charset="-122"/>
                <a:cs typeface="Onest" pitchFamily="34" charset="0"/>
              </a:rPr>
              <a:t>64 packets</a:t>
            </a:r>
            <a:endParaRPr lang="en-US" sz="1800" dirty="0"/>
          </a:p>
        </p:txBody>
      </p:sp>
      <p:sp>
        <p:nvSpPr>
          <p:cNvPr id="23" name="Shape 21"/>
          <p:cNvSpPr/>
          <p:nvPr/>
        </p:nvSpPr>
        <p:spPr>
          <a:xfrm>
            <a:off x="8953276" y="4664075"/>
            <a:ext cx="2628834" cy="993676"/>
          </a:xfrm>
          <a:prstGeom prst="roundRect">
            <a:avLst>
              <a:gd name="adj" fmla="val 12269"/>
            </a:avLst>
          </a:prstGeom>
          <a:solidFill>
            <a:srgbClr val="080E33"/>
          </a:solidFill>
          <a:ln w="6350">
            <a:solidFill>
              <a:srgbClr val="2B3A80"/>
            </a:solidFill>
            <a:prstDash val="solid"/>
          </a:ln>
        </p:spPr>
      </p:sp>
      <p:sp>
        <p:nvSpPr>
          <p:cNvPr id="24" name="Text 22"/>
          <p:cNvSpPr/>
          <p:nvPr/>
        </p:nvSpPr>
        <p:spPr>
          <a:xfrm>
            <a:off x="9137421" y="4822984"/>
            <a:ext cx="2444689"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FFFFFF"/>
                </a:solidFill>
                <a:latin typeface="Onest" pitchFamily="34" charset="0"/>
                <a:ea typeface="Onest" pitchFamily="34" charset="-122"/>
                <a:cs typeface="Onest" pitchFamily="34" charset="0"/>
              </a:rPr>
              <a:t>Queue Hold Time</a:t>
            </a:r>
            <a:endParaRPr lang="en-US" sz="1150" dirty="0"/>
          </a:p>
        </p:txBody>
      </p:sp>
      <p:sp>
        <p:nvSpPr>
          <p:cNvPr id="25" name="Text 23"/>
          <p:cNvSpPr/>
          <p:nvPr/>
        </p:nvSpPr>
        <p:spPr>
          <a:xfrm>
            <a:off x="9137421" y="5190430"/>
            <a:ext cx="2260543" cy="308570"/>
          </a:xfrm>
          <a:prstGeom prst="rect">
            <a:avLst/>
          </a:prstGeom>
          <a:noFill/>
          <a:ln/>
        </p:spPr>
        <p:txBody>
          <a:bodyPr wrap="none" lIns="0" tIns="0" rIns="0" bIns="0" rtlCol="0" anchor="t"/>
          <a:lstStyle/>
          <a:p>
            <a:pPr marL="0" indent="0" algn="l">
              <a:lnSpc>
                <a:spcPct val="113000"/>
              </a:lnSpc>
              <a:buNone/>
            </a:pPr>
            <a:r>
              <a:rPr lang="en-US" sz="1800" dirty="0">
                <a:solidFill>
                  <a:srgbClr val="FFFFFF"/>
                </a:solidFill>
                <a:latin typeface="Onest" pitchFamily="34" charset="0"/>
                <a:ea typeface="Onest" pitchFamily="34" charset="-122"/>
                <a:cs typeface="Onest" pitchFamily="34" charset="0"/>
              </a:rPr>
              <a:t>30 s default</a:t>
            </a:r>
            <a:endParaRPr lang="en-US" sz="1800" dirty="0"/>
          </a:p>
        </p:txBody>
      </p:sp>
      <p:sp>
        <p:nvSpPr>
          <p:cNvPr id="26" name="Text 24"/>
          <p:cNvSpPr/>
          <p:nvPr/>
        </p:nvSpPr>
        <p:spPr>
          <a:xfrm>
            <a:off x="609585" y="5784910"/>
            <a:ext cx="11582110"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B4C2EC"/>
                </a:solidFill>
                <a:latin typeface="Onest" pitchFamily="34" charset="0"/>
                <a:ea typeface="Onest" pitchFamily="34" charset="-122"/>
                <a:cs typeface="Onest" pitchFamily="34" charset="0"/>
              </a:rPr>
              <a:t>Research Question: Can GWO systematically discover the optimal multi-parameter balance that maximizes PDR without triggering control overhead collapse?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09585" y="767556"/>
            <a:ext cx="2077787" cy="283865"/>
          </a:xfrm>
          <a:prstGeom prst="roundRect">
            <a:avLst>
              <a:gd name="adj" fmla="val 32212"/>
            </a:avLst>
          </a:prstGeom>
          <a:solidFill>
            <a:srgbClr val="7FA6F2"/>
          </a:solidFill>
          <a:ln/>
        </p:spPr>
      </p:sp>
      <p:sp>
        <p:nvSpPr>
          <p:cNvPr id="3" name="Text 1"/>
          <p:cNvSpPr/>
          <p:nvPr/>
        </p:nvSpPr>
        <p:spPr>
          <a:xfrm>
            <a:off x="723882" y="815955"/>
            <a:ext cx="2458778"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0D174F"/>
                </a:solidFill>
                <a:latin typeface="Onest SemiBold" pitchFamily="34" charset="0"/>
                <a:ea typeface="Onest SemiBold" pitchFamily="34" charset="-122"/>
                <a:cs typeface="Onest SemiBold" pitchFamily="34" charset="0"/>
              </a:rPr>
              <a:t>02 · ARCHITECTURE</a:t>
            </a:r>
            <a:endParaRPr lang="en-US" sz="1300" dirty="0"/>
          </a:p>
        </p:txBody>
      </p:sp>
      <p:sp>
        <p:nvSpPr>
          <p:cNvPr id="4" name="Text 2"/>
          <p:cNvSpPr/>
          <p:nvPr/>
        </p:nvSpPr>
        <p:spPr>
          <a:xfrm>
            <a:off x="609585" y="1288857"/>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0"/>
              </a:rPr>
              <a:t>A closed loop lets GWO </a:t>
            </a:r>
            <a:r>
              <a:rPr lang="en-US" sz="3400" b="1" kern="100" spc="-85" dirty="0">
                <a:solidFill>
                  <a:srgbClr val="7FA6F2"/>
                </a:solidFill>
                <a:latin typeface="Familjen Grotesk Bold" pitchFamily="34" charset="0"/>
                <a:ea typeface="Familjen Grotesk Bold" pitchFamily="34" charset="-122"/>
                <a:cs typeface="Familjen Grotesk Bold" pitchFamily="34" charset="0"/>
              </a:rPr>
              <a:t>tune DSDV against the simulator</a:t>
            </a:r>
            <a:endParaRPr lang="en-US" sz="3400" dirty="0"/>
          </a:p>
        </p:txBody>
      </p:sp>
      <p:sp>
        <p:nvSpPr>
          <p:cNvPr id="5" name="Text 3"/>
          <p:cNvSpPr/>
          <p:nvPr/>
        </p:nvSpPr>
        <p:spPr>
          <a:xfrm>
            <a:off x="609585" y="1863328"/>
            <a:ext cx="10972526" cy="342900"/>
          </a:xfrm>
          <a:prstGeom prst="rect">
            <a:avLst/>
          </a:prstGeom>
          <a:noFill/>
          <a:ln/>
        </p:spPr>
        <p:txBody>
          <a:bodyPr wrap="none" lIns="0" tIns="0" rIns="0" bIns="0" rtlCol="0" anchor="t"/>
          <a:lstStyle/>
          <a:p>
            <a:pPr marL="0" indent="0" algn="l">
              <a:lnSpc>
                <a:spcPct val="112000"/>
              </a:lnSpc>
              <a:buNone/>
            </a:pPr>
            <a:r>
              <a:rPr lang="en-US" sz="2000" dirty="0">
                <a:solidFill>
                  <a:srgbClr val="B4C2EC"/>
                </a:solidFill>
                <a:latin typeface="Onest" pitchFamily="34" charset="0"/>
                <a:ea typeface="Onest" pitchFamily="34" charset="-122"/>
                <a:cs typeface="Onest" pitchFamily="34" charset="0"/>
              </a:rPr>
              <a:t>Protocol core stays untouched, so loop-freedom is preserved.</a:t>
            </a:r>
            <a:endParaRPr lang="en-US" sz="2000" dirty="0"/>
          </a:p>
        </p:txBody>
      </p:sp>
      <p:sp>
        <p:nvSpPr>
          <p:cNvPr id="6" name="Shape 4"/>
          <p:cNvSpPr/>
          <p:nvPr/>
        </p:nvSpPr>
        <p:spPr>
          <a:xfrm>
            <a:off x="609585" y="2333228"/>
            <a:ext cx="2514537" cy="2289671"/>
          </a:xfrm>
          <a:prstGeom prst="roundRect">
            <a:avLst>
              <a:gd name="adj" fmla="val 5325"/>
            </a:avLst>
          </a:prstGeom>
          <a:solidFill>
            <a:srgbClr val="152060"/>
          </a:solidFill>
          <a:ln w="6350">
            <a:solidFill>
              <a:srgbClr val="2B3A80"/>
            </a:solidFill>
            <a:prstDash val="solid"/>
          </a:ln>
        </p:spPr>
      </p:sp>
      <p:sp>
        <p:nvSpPr>
          <p:cNvPr id="7" name="Text 5"/>
          <p:cNvSpPr/>
          <p:nvPr/>
        </p:nvSpPr>
        <p:spPr>
          <a:xfrm>
            <a:off x="819130" y="2542778"/>
            <a:ext cx="821610" cy="203200"/>
          </a:xfrm>
          <a:prstGeom prst="rect">
            <a:avLst/>
          </a:prstGeom>
          <a:noFill/>
          <a:ln/>
        </p:spPr>
        <p:txBody>
          <a:bodyPr wrap="none" lIns="0" tIns="0" rIns="0" bIns="0" rtlCol="0" anchor="t"/>
          <a:lstStyle/>
          <a:p>
            <a:pPr marL="0" indent="0" algn="l">
              <a:lnSpc>
                <a:spcPct val="83000"/>
              </a:lnSpc>
              <a:buNone/>
            </a:pPr>
            <a:r>
              <a:rPr lang="en-US" sz="1600" dirty="0">
                <a:solidFill>
                  <a:srgbClr val="E9EEFF"/>
                </a:solidFill>
                <a:latin typeface="Onest SemiBold" pitchFamily="34" charset="0"/>
                <a:ea typeface="Onest SemiBold" pitchFamily="34" charset="-122"/>
                <a:cs typeface="Onest SemiBold" pitchFamily="34" charset="0"/>
              </a:rPr>
              <a:t>01</a:t>
            </a:r>
            <a:endParaRPr lang="en-US" sz="1600" dirty="0"/>
          </a:p>
        </p:txBody>
      </p:sp>
      <p:sp>
        <p:nvSpPr>
          <p:cNvPr id="8" name="Shape 6"/>
          <p:cNvSpPr/>
          <p:nvPr/>
        </p:nvSpPr>
        <p:spPr>
          <a:xfrm>
            <a:off x="615935" y="2827238"/>
            <a:ext cx="2501837" cy="19050"/>
          </a:xfrm>
          <a:prstGeom prst="rect">
            <a:avLst/>
          </a:prstGeom>
          <a:solidFill>
            <a:srgbClr val="7FA6F2"/>
          </a:solidFill>
          <a:ln/>
        </p:spPr>
      </p:sp>
      <p:sp>
        <p:nvSpPr>
          <p:cNvPr id="9" name="Text 7"/>
          <p:cNvSpPr/>
          <p:nvPr/>
        </p:nvSpPr>
        <p:spPr>
          <a:xfrm>
            <a:off x="819130" y="2968129"/>
            <a:ext cx="2095448"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Candidate Vector</a:t>
            </a:r>
            <a:endParaRPr lang="en-US" sz="1800" dirty="0"/>
          </a:p>
        </p:txBody>
      </p:sp>
      <p:sp>
        <p:nvSpPr>
          <p:cNvPr id="10" name="Text 8"/>
          <p:cNvSpPr/>
          <p:nvPr/>
        </p:nvSpPr>
        <p:spPr>
          <a:xfrm>
            <a:off x="819130" y="3467199"/>
            <a:ext cx="2095448" cy="946150"/>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Wolf proposes a 4D vector: update interval, settling time, queue length, queue time.</a:t>
            </a:r>
            <a:endParaRPr lang="en-US" sz="1350" dirty="0"/>
          </a:p>
        </p:txBody>
      </p:sp>
      <p:sp>
        <p:nvSpPr>
          <p:cNvPr id="11" name="Shape 9"/>
          <p:cNvSpPr/>
          <p:nvPr/>
        </p:nvSpPr>
        <p:spPr>
          <a:xfrm>
            <a:off x="3428914" y="2333228"/>
            <a:ext cx="2514537" cy="2289671"/>
          </a:xfrm>
          <a:prstGeom prst="roundRect">
            <a:avLst>
              <a:gd name="adj" fmla="val 5325"/>
            </a:avLst>
          </a:prstGeom>
          <a:solidFill>
            <a:srgbClr val="152060"/>
          </a:solidFill>
          <a:ln w="6350">
            <a:solidFill>
              <a:srgbClr val="2B3A80"/>
            </a:solidFill>
            <a:prstDash val="solid"/>
          </a:ln>
        </p:spPr>
      </p:sp>
      <p:sp>
        <p:nvSpPr>
          <p:cNvPr id="12" name="Text 10"/>
          <p:cNvSpPr/>
          <p:nvPr/>
        </p:nvSpPr>
        <p:spPr>
          <a:xfrm>
            <a:off x="3638459" y="2542778"/>
            <a:ext cx="855343" cy="203200"/>
          </a:xfrm>
          <a:prstGeom prst="rect">
            <a:avLst/>
          </a:prstGeom>
          <a:noFill/>
          <a:ln/>
        </p:spPr>
        <p:txBody>
          <a:bodyPr wrap="none" lIns="0" tIns="0" rIns="0" bIns="0" rtlCol="0" anchor="t"/>
          <a:lstStyle/>
          <a:p>
            <a:pPr marL="0" indent="0" algn="l">
              <a:lnSpc>
                <a:spcPct val="83000"/>
              </a:lnSpc>
              <a:buNone/>
            </a:pPr>
            <a:r>
              <a:rPr lang="en-US" sz="1600" dirty="0">
                <a:solidFill>
                  <a:srgbClr val="E9EEFF"/>
                </a:solidFill>
                <a:latin typeface="Onest SemiBold" pitchFamily="34" charset="0"/>
                <a:ea typeface="Onest SemiBold" pitchFamily="34" charset="-122"/>
                <a:cs typeface="Onest SemiBold" pitchFamily="34" charset="0"/>
              </a:rPr>
              <a:t>02</a:t>
            </a:r>
            <a:endParaRPr lang="en-US" sz="1600" dirty="0"/>
          </a:p>
        </p:txBody>
      </p:sp>
      <p:sp>
        <p:nvSpPr>
          <p:cNvPr id="13" name="Shape 11"/>
          <p:cNvSpPr/>
          <p:nvPr/>
        </p:nvSpPr>
        <p:spPr>
          <a:xfrm>
            <a:off x="3435264" y="2827238"/>
            <a:ext cx="2501837" cy="19050"/>
          </a:xfrm>
          <a:prstGeom prst="rect">
            <a:avLst/>
          </a:prstGeom>
          <a:solidFill>
            <a:srgbClr val="7FA6F2"/>
          </a:solidFill>
          <a:ln/>
        </p:spPr>
      </p:sp>
      <p:sp>
        <p:nvSpPr>
          <p:cNvPr id="14" name="Text 12"/>
          <p:cNvSpPr/>
          <p:nvPr/>
        </p:nvSpPr>
        <p:spPr>
          <a:xfrm>
            <a:off x="3638459" y="2968129"/>
            <a:ext cx="2095448"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Simulation Run</a:t>
            </a:r>
            <a:endParaRPr lang="en-US" sz="1800" dirty="0"/>
          </a:p>
        </p:txBody>
      </p:sp>
      <p:sp>
        <p:nvSpPr>
          <p:cNvPr id="15" name="Text 13"/>
          <p:cNvSpPr/>
          <p:nvPr/>
        </p:nvSpPr>
        <p:spPr>
          <a:xfrm>
            <a:off x="3638459" y="3467199"/>
            <a:ext cx="2095448"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Simulator runs DSDV with that vector.</a:t>
            </a:r>
            <a:endParaRPr lang="en-US" sz="1350" dirty="0"/>
          </a:p>
        </p:txBody>
      </p:sp>
      <p:sp>
        <p:nvSpPr>
          <p:cNvPr id="16" name="Shape 14"/>
          <p:cNvSpPr/>
          <p:nvPr/>
        </p:nvSpPr>
        <p:spPr>
          <a:xfrm>
            <a:off x="6248244" y="2333228"/>
            <a:ext cx="2514537" cy="2289671"/>
          </a:xfrm>
          <a:prstGeom prst="roundRect">
            <a:avLst>
              <a:gd name="adj" fmla="val 5325"/>
            </a:avLst>
          </a:prstGeom>
          <a:solidFill>
            <a:srgbClr val="152060"/>
          </a:solidFill>
          <a:ln w="6350">
            <a:solidFill>
              <a:srgbClr val="2B3A80"/>
            </a:solidFill>
            <a:prstDash val="solid"/>
          </a:ln>
        </p:spPr>
      </p:sp>
      <p:sp>
        <p:nvSpPr>
          <p:cNvPr id="17" name="Text 15"/>
          <p:cNvSpPr/>
          <p:nvPr/>
        </p:nvSpPr>
        <p:spPr>
          <a:xfrm>
            <a:off x="6457788" y="2542778"/>
            <a:ext cx="867646" cy="203200"/>
          </a:xfrm>
          <a:prstGeom prst="rect">
            <a:avLst/>
          </a:prstGeom>
          <a:noFill/>
          <a:ln/>
        </p:spPr>
        <p:txBody>
          <a:bodyPr wrap="none" lIns="0" tIns="0" rIns="0" bIns="0" rtlCol="0" anchor="t"/>
          <a:lstStyle/>
          <a:p>
            <a:pPr marL="0" indent="0" algn="l">
              <a:lnSpc>
                <a:spcPct val="83000"/>
              </a:lnSpc>
              <a:buNone/>
            </a:pPr>
            <a:r>
              <a:rPr lang="en-US" sz="1600" dirty="0">
                <a:solidFill>
                  <a:srgbClr val="E9EEFF"/>
                </a:solidFill>
                <a:latin typeface="Onest SemiBold" pitchFamily="34" charset="0"/>
                <a:ea typeface="Onest SemiBold" pitchFamily="34" charset="-122"/>
                <a:cs typeface="Onest SemiBold" pitchFamily="34" charset="0"/>
              </a:rPr>
              <a:t>03</a:t>
            </a:r>
            <a:endParaRPr lang="en-US" sz="1600" dirty="0"/>
          </a:p>
        </p:txBody>
      </p:sp>
      <p:sp>
        <p:nvSpPr>
          <p:cNvPr id="18" name="Shape 16"/>
          <p:cNvSpPr/>
          <p:nvPr/>
        </p:nvSpPr>
        <p:spPr>
          <a:xfrm>
            <a:off x="6254594" y="2827238"/>
            <a:ext cx="2501837" cy="19050"/>
          </a:xfrm>
          <a:prstGeom prst="rect">
            <a:avLst/>
          </a:prstGeom>
          <a:solidFill>
            <a:srgbClr val="7FA6F2"/>
          </a:solidFill>
          <a:ln/>
        </p:spPr>
      </p:sp>
      <p:sp>
        <p:nvSpPr>
          <p:cNvPr id="19" name="Text 17"/>
          <p:cNvSpPr/>
          <p:nvPr/>
        </p:nvSpPr>
        <p:spPr>
          <a:xfrm>
            <a:off x="6457788" y="2968129"/>
            <a:ext cx="2095448"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Metric Extraction</a:t>
            </a:r>
            <a:endParaRPr lang="en-US" sz="1800" dirty="0"/>
          </a:p>
        </p:txBody>
      </p:sp>
      <p:sp>
        <p:nvSpPr>
          <p:cNvPr id="20" name="Text 18"/>
          <p:cNvSpPr/>
          <p:nvPr/>
        </p:nvSpPr>
        <p:spPr>
          <a:xfrm>
            <a:off x="6457788" y="3467199"/>
            <a:ext cx="2095448"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PDR, delay and overhead are measured.</a:t>
            </a:r>
            <a:endParaRPr lang="en-US" sz="1350" dirty="0"/>
          </a:p>
        </p:txBody>
      </p:sp>
      <p:sp>
        <p:nvSpPr>
          <p:cNvPr id="21" name="Shape 19"/>
          <p:cNvSpPr/>
          <p:nvPr/>
        </p:nvSpPr>
        <p:spPr>
          <a:xfrm>
            <a:off x="9067573" y="2333228"/>
            <a:ext cx="2514537" cy="2289671"/>
          </a:xfrm>
          <a:prstGeom prst="roundRect">
            <a:avLst>
              <a:gd name="adj" fmla="val 5325"/>
            </a:avLst>
          </a:prstGeom>
          <a:solidFill>
            <a:srgbClr val="152060"/>
          </a:solidFill>
          <a:ln w="6350">
            <a:solidFill>
              <a:srgbClr val="2B3A80"/>
            </a:solidFill>
            <a:prstDash val="solid"/>
          </a:ln>
        </p:spPr>
      </p:sp>
      <p:sp>
        <p:nvSpPr>
          <p:cNvPr id="22" name="Text 20"/>
          <p:cNvSpPr/>
          <p:nvPr/>
        </p:nvSpPr>
        <p:spPr>
          <a:xfrm>
            <a:off x="9277118" y="2542778"/>
            <a:ext cx="873202" cy="203200"/>
          </a:xfrm>
          <a:prstGeom prst="rect">
            <a:avLst/>
          </a:prstGeom>
          <a:noFill/>
          <a:ln/>
        </p:spPr>
        <p:txBody>
          <a:bodyPr wrap="none" lIns="0" tIns="0" rIns="0" bIns="0" rtlCol="0" anchor="t"/>
          <a:lstStyle/>
          <a:p>
            <a:pPr marL="0" indent="0" algn="l">
              <a:lnSpc>
                <a:spcPct val="83000"/>
              </a:lnSpc>
              <a:buNone/>
            </a:pPr>
            <a:r>
              <a:rPr lang="en-US" sz="1600" dirty="0">
                <a:solidFill>
                  <a:srgbClr val="E9EEFF"/>
                </a:solidFill>
                <a:latin typeface="Onest SemiBold" pitchFamily="34" charset="0"/>
                <a:ea typeface="Onest SemiBold" pitchFamily="34" charset="-122"/>
                <a:cs typeface="Onest SemiBold" pitchFamily="34" charset="0"/>
              </a:rPr>
              <a:t>04</a:t>
            </a:r>
            <a:endParaRPr lang="en-US" sz="1600" dirty="0"/>
          </a:p>
        </p:txBody>
      </p:sp>
      <p:sp>
        <p:nvSpPr>
          <p:cNvPr id="23" name="Shape 21"/>
          <p:cNvSpPr/>
          <p:nvPr/>
        </p:nvSpPr>
        <p:spPr>
          <a:xfrm>
            <a:off x="9073923" y="2827238"/>
            <a:ext cx="2501837" cy="19050"/>
          </a:xfrm>
          <a:prstGeom prst="rect">
            <a:avLst/>
          </a:prstGeom>
          <a:solidFill>
            <a:srgbClr val="7FA6F2"/>
          </a:solidFill>
          <a:ln/>
        </p:spPr>
      </p:sp>
      <p:sp>
        <p:nvSpPr>
          <p:cNvPr id="24" name="Text 22"/>
          <p:cNvSpPr/>
          <p:nvPr/>
        </p:nvSpPr>
        <p:spPr>
          <a:xfrm>
            <a:off x="9277118" y="2968129"/>
            <a:ext cx="2095448"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Fitness Feedback</a:t>
            </a:r>
            <a:endParaRPr lang="en-US" sz="1800" dirty="0"/>
          </a:p>
        </p:txBody>
      </p:sp>
      <p:sp>
        <p:nvSpPr>
          <p:cNvPr id="25" name="Text 23"/>
          <p:cNvSpPr/>
          <p:nvPr/>
        </p:nvSpPr>
        <p:spPr>
          <a:xfrm>
            <a:off x="9277118" y="3467199"/>
            <a:ext cx="2095448"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Fitness score returns to the pack.</a:t>
            </a:r>
            <a:endParaRPr lang="en-US" sz="1350" dirty="0"/>
          </a:p>
        </p:txBody>
      </p:sp>
      <p:sp>
        <p:nvSpPr>
          <p:cNvPr id="26" name="Shape 24"/>
          <p:cNvSpPr/>
          <p:nvPr/>
        </p:nvSpPr>
        <p:spPr>
          <a:xfrm>
            <a:off x="609585" y="4749899"/>
            <a:ext cx="5333867" cy="1340445"/>
          </a:xfrm>
          <a:prstGeom prst="roundRect">
            <a:avLst>
              <a:gd name="adj" fmla="val 9095"/>
            </a:avLst>
          </a:prstGeom>
          <a:solidFill>
            <a:srgbClr val="080E33"/>
          </a:solidFill>
          <a:ln w="6350">
            <a:solidFill>
              <a:srgbClr val="2B3A80"/>
            </a:solidFill>
            <a:prstDash val="solid"/>
          </a:ln>
        </p:spPr>
      </p:sp>
      <p:sp>
        <p:nvSpPr>
          <p:cNvPr id="27" name="Text 25"/>
          <p:cNvSpPr/>
          <p:nvPr/>
        </p:nvSpPr>
        <p:spPr>
          <a:xfrm>
            <a:off x="844529" y="4934049"/>
            <a:ext cx="4863978" cy="308570"/>
          </a:xfrm>
          <a:prstGeom prst="rect">
            <a:avLst/>
          </a:prstGeom>
          <a:noFill/>
          <a:ln/>
        </p:spPr>
        <p:txBody>
          <a:bodyPr wrap="none" lIns="0" tIns="0" rIns="0" bIns="0" rtlCol="0" anchor="t"/>
          <a:lstStyle/>
          <a:p>
            <a:pPr marL="0" indent="0" algn="l">
              <a:lnSpc>
                <a:spcPct val="113000"/>
              </a:lnSpc>
              <a:buNone/>
            </a:pPr>
            <a:r>
              <a:rPr lang="en-US" sz="1800" dirty="0">
                <a:solidFill>
                  <a:srgbClr val="FFFFFF"/>
                </a:solidFill>
                <a:latin typeface="Onest" pitchFamily="34" charset="0"/>
                <a:ea typeface="Onest" pitchFamily="34" charset="-122"/>
                <a:cs typeface="Onest" pitchFamily="34" charset="0"/>
              </a:rPr>
              <a:t>Protocol Core</a:t>
            </a:r>
            <a:endParaRPr lang="en-US" sz="1800" dirty="0"/>
          </a:p>
        </p:txBody>
      </p:sp>
      <p:sp>
        <p:nvSpPr>
          <p:cNvPr id="28" name="Text 26"/>
          <p:cNvSpPr/>
          <p:nvPr/>
        </p:nvSpPr>
        <p:spPr>
          <a:xfrm>
            <a:off x="844529" y="5433120"/>
            <a:ext cx="4863978"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FFFFFF"/>
                </a:solidFill>
                <a:latin typeface="Onest" pitchFamily="34" charset="0"/>
                <a:ea typeface="Onest" pitchFamily="34" charset="-122"/>
                <a:cs typeface="Onest" pitchFamily="34" charset="0"/>
              </a:rPr>
              <a:t>Protocol core stays untouched, so loop-freedom is preserved.</a:t>
            </a:r>
            <a:endParaRPr lang="en-US" sz="1350" dirty="0"/>
          </a:p>
        </p:txBody>
      </p:sp>
      <p:sp>
        <p:nvSpPr>
          <p:cNvPr id="29" name="Shape 27"/>
          <p:cNvSpPr/>
          <p:nvPr/>
        </p:nvSpPr>
        <p:spPr>
          <a:xfrm>
            <a:off x="6248244" y="4749899"/>
            <a:ext cx="5333867" cy="1340445"/>
          </a:xfrm>
          <a:prstGeom prst="roundRect">
            <a:avLst>
              <a:gd name="adj" fmla="val 9095"/>
            </a:avLst>
          </a:prstGeom>
          <a:solidFill>
            <a:srgbClr val="080E33"/>
          </a:solidFill>
          <a:ln w="6350">
            <a:solidFill>
              <a:srgbClr val="2B3A80"/>
            </a:solidFill>
            <a:prstDash val="solid"/>
          </a:ln>
        </p:spPr>
      </p:sp>
      <p:sp>
        <p:nvSpPr>
          <p:cNvPr id="30" name="Text 28"/>
          <p:cNvSpPr/>
          <p:nvPr/>
        </p:nvSpPr>
        <p:spPr>
          <a:xfrm>
            <a:off x="6483188" y="4934049"/>
            <a:ext cx="4863978" cy="308570"/>
          </a:xfrm>
          <a:prstGeom prst="rect">
            <a:avLst/>
          </a:prstGeom>
          <a:noFill/>
          <a:ln/>
        </p:spPr>
        <p:txBody>
          <a:bodyPr wrap="none" lIns="0" tIns="0" rIns="0" bIns="0" rtlCol="0" anchor="t"/>
          <a:lstStyle/>
          <a:p>
            <a:pPr marL="0" indent="0" algn="l">
              <a:lnSpc>
                <a:spcPct val="113000"/>
              </a:lnSpc>
              <a:buNone/>
            </a:pPr>
            <a:r>
              <a:rPr lang="en-US" sz="1800" dirty="0">
                <a:solidFill>
                  <a:srgbClr val="FFFFFF"/>
                </a:solidFill>
                <a:latin typeface="Onest" pitchFamily="34" charset="0"/>
                <a:ea typeface="Onest" pitchFamily="34" charset="-122"/>
                <a:cs typeface="Onest" pitchFamily="34" charset="0"/>
              </a:rPr>
              <a:t>Fewer Hyperparameters</a:t>
            </a:r>
            <a:endParaRPr lang="en-US" sz="1800" dirty="0"/>
          </a:p>
        </p:txBody>
      </p:sp>
      <p:sp>
        <p:nvSpPr>
          <p:cNvPr id="31" name="Text 29"/>
          <p:cNvSpPr/>
          <p:nvPr/>
        </p:nvSpPr>
        <p:spPr>
          <a:xfrm>
            <a:off x="6483188" y="5433120"/>
            <a:ext cx="5098922" cy="236537"/>
          </a:xfrm>
          <a:prstGeom prst="rect">
            <a:avLst/>
          </a:prstGeom>
          <a:noFill/>
          <a:ln/>
        </p:spPr>
        <p:txBody>
          <a:bodyPr wrap="none" lIns="0" tIns="0" rIns="0" bIns="0" rtlCol="0" anchor="t"/>
          <a:lstStyle/>
          <a:p>
            <a:pPr marL="0" indent="0" algn="l">
              <a:lnSpc>
                <a:spcPct val="115000"/>
              </a:lnSpc>
              <a:buNone/>
            </a:pPr>
            <a:r>
              <a:rPr lang="en-US" sz="1350" dirty="0">
                <a:solidFill>
                  <a:srgbClr val="FFFFFF"/>
                </a:solidFill>
                <a:latin typeface="Onest" pitchFamily="34" charset="0"/>
                <a:ea typeface="Onest" pitchFamily="34" charset="-122"/>
                <a:cs typeface="Onest" pitchFamily="34" charset="0"/>
              </a:rPr>
              <a:t>GWO has fewer hyperparameters than GA or PSO.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9585" y="842268"/>
            <a:ext cx="2924697" cy="283865"/>
          </a:xfrm>
          <a:prstGeom prst="roundRect">
            <a:avLst>
              <a:gd name="adj" fmla="val 32212"/>
            </a:avLst>
          </a:prstGeom>
          <a:solidFill>
            <a:srgbClr val="FF6A3D"/>
          </a:solidFill>
          <a:ln/>
        </p:spPr>
      </p:sp>
      <p:sp>
        <p:nvSpPr>
          <p:cNvPr id="3" name="Text 1"/>
          <p:cNvSpPr/>
          <p:nvPr/>
        </p:nvSpPr>
        <p:spPr>
          <a:xfrm>
            <a:off x="723882" y="890667"/>
            <a:ext cx="3305688"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0D174F"/>
                </a:solidFill>
                <a:latin typeface="Onest SemiBold" pitchFamily="34" charset="0"/>
                <a:ea typeface="Onest SemiBold" pitchFamily="34" charset="-122"/>
                <a:cs typeface="Onest SemiBold" pitchFamily="34" charset="0"/>
              </a:rPr>
              <a:t>03 · DSDV PROTOCOL RULES</a:t>
            </a:r>
            <a:endParaRPr lang="en-US" sz="1300" dirty="0"/>
          </a:p>
        </p:txBody>
      </p:sp>
      <p:sp>
        <p:nvSpPr>
          <p:cNvPr id="4" name="Text 2"/>
          <p:cNvSpPr/>
          <p:nvPr/>
        </p:nvSpPr>
        <p:spPr>
          <a:xfrm>
            <a:off x="609585" y="1363568"/>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0"/>
              </a:rPr>
              <a:t>DSDV accepts routes by </a:t>
            </a:r>
            <a:r>
              <a:rPr lang="en-US" sz="3400" b="1" kern="100" spc="-85" dirty="0">
                <a:solidFill>
                  <a:srgbClr val="FF6A3D"/>
                </a:solidFill>
                <a:latin typeface="Familjen Grotesk Bold" pitchFamily="34" charset="0"/>
                <a:ea typeface="Familjen Grotesk Bold" pitchFamily="34" charset="-122"/>
                <a:cs typeface="Familjen Grotesk Bold" pitchFamily="34" charset="0"/>
              </a:rPr>
              <a:t>sequence number, then hop count</a:t>
            </a:r>
            <a:endParaRPr lang="en-US" sz="3400" dirty="0"/>
          </a:p>
        </p:txBody>
      </p:sp>
      <p:sp>
        <p:nvSpPr>
          <p:cNvPr id="5" name="Text 3"/>
          <p:cNvSpPr/>
          <p:nvPr/>
        </p:nvSpPr>
        <p:spPr>
          <a:xfrm>
            <a:off x="609585" y="1938040"/>
            <a:ext cx="10972526" cy="685800"/>
          </a:xfrm>
          <a:prstGeom prst="rect">
            <a:avLst/>
          </a:prstGeom>
          <a:noFill/>
          <a:ln/>
        </p:spPr>
        <p:txBody>
          <a:bodyPr wrap="square" lIns="0" tIns="0" rIns="0" bIns="0" rtlCol="0" anchor="t">
            <a:normAutofit/>
          </a:bodyPr>
          <a:lstStyle/>
          <a:p>
            <a:pPr marL="0" indent="0" algn="l">
              <a:lnSpc>
                <a:spcPct val="112000"/>
              </a:lnSpc>
              <a:buNone/>
            </a:pPr>
            <a:r>
              <a:rPr lang="en-US" sz="2000" dirty="0">
                <a:solidFill>
                  <a:srgbClr val="B4C2EC"/>
                </a:solidFill>
                <a:latin typeface="Onest" pitchFamily="34" charset="0"/>
                <a:ea typeface="Onest" pitchFamily="34" charset="-122"/>
                <a:cs typeface="Onest" pitchFamily="34" charset="0"/>
              </a:rPr>
              <a:t>Strict destination sequence numbering prevents Bellman-Ford count-to-infinity and routing loops.</a:t>
            </a:r>
            <a:endParaRPr lang="en-US" sz="2000" dirty="0"/>
          </a:p>
        </p:txBody>
      </p:sp>
      <p:sp>
        <p:nvSpPr>
          <p:cNvPr id="6" name="Shape 4"/>
          <p:cNvSpPr/>
          <p:nvPr/>
        </p:nvSpPr>
        <p:spPr>
          <a:xfrm>
            <a:off x="609585" y="2801640"/>
            <a:ext cx="10972526" cy="957957"/>
          </a:xfrm>
          <a:prstGeom prst="roundRect">
            <a:avLst>
              <a:gd name="adj" fmla="val 12727"/>
            </a:avLst>
          </a:prstGeom>
          <a:solidFill>
            <a:srgbClr val="152060"/>
          </a:solidFill>
          <a:ln w="6350">
            <a:solidFill>
              <a:srgbClr val="2B3A80"/>
            </a:solidFill>
            <a:prstDash val="solid"/>
          </a:ln>
        </p:spPr>
      </p:sp>
      <p:sp>
        <p:nvSpPr>
          <p:cNvPr id="7" name="Text 5"/>
          <p:cNvSpPr/>
          <p:nvPr/>
        </p:nvSpPr>
        <p:spPr>
          <a:xfrm>
            <a:off x="869928" y="2988965"/>
            <a:ext cx="10712182"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E9EEFF"/>
                </a:solidFill>
                <a:latin typeface="Onest SemiBold" pitchFamily="34" charset="0"/>
                <a:ea typeface="Onest SemiBold" pitchFamily="34" charset="-122"/>
                <a:cs typeface="Onest SemiBold" pitchFamily="34" charset="0"/>
              </a:rPr>
              <a:t>ROUTING TABLE ENTRY FORMAT</a:t>
            </a:r>
            <a:endParaRPr lang="en-US" sz="1050" dirty="0"/>
          </a:p>
        </p:txBody>
      </p:sp>
      <p:sp>
        <p:nvSpPr>
          <p:cNvPr id="8" name="Text 6"/>
          <p:cNvSpPr/>
          <p:nvPr/>
        </p:nvSpPr>
        <p:spPr>
          <a:xfrm>
            <a:off x="869928" y="3247330"/>
            <a:ext cx="10712182" cy="328116"/>
          </a:xfrm>
          <a:prstGeom prst="rect">
            <a:avLst/>
          </a:prstGeom>
          <a:noFill/>
          <a:ln/>
        </p:spPr>
        <p:txBody>
          <a:bodyPr wrap="none" lIns="0" tIns="0" rIns="0" bIns="0" rtlCol="0" anchor="t"/>
          <a:lstStyle/>
          <a:p>
            <a:pPr marL="0" indent="0" algn="l">
              <a:lnSpc>
                <a:spcPct val="115000"/>
              </a:lnSpc>
              <a:buNone/>
            </a:pPr>
            <a:r>
              <a:rPr lang="en-US" sz="1800" dirty="0">
                <a:solidFill>
                  <a:srgbClr val="E9EEFF"/>
                </a:solidFill>
                <a:highlight>
                  <a:srgbClr val="152060"/>
                </a:highlight>
                <a:latin typeface="Consolas" pitchFamily="34" charset="0"/>
                <a:ea typeface="Consolas" pitchFamily="34" charset="-122"/>
                <a:cs typeface="Consolas" pitchFamily="34" charset="0"/>
              </a:rPr>
              <a:t>[ Destination Address | Next Hop | Metric m | Sequence Number S | Install Time ]</a:t>
            </a:r>
            <a:endParaRPr lang="en-US" sz="1800" dirty="0"/>
          </a:p>
        </p:txBody>
      </p:sp>
      <p:sp>
        <p:nvSpPr>
          <p:cNvPr id="9" name="Shape 7"/>
          <p:cNvSpPr/>
          <p:nvPr/>
        </p:nvSpPr>
        <p:spPr>
          <a:xfrm>
            <a:off x="609585" y="3911997"/>
            <a:ext cx="3454314" cy="2103636"/>
          </a:xfrm>
          <a:prstGeom prst="roundRect">
            <a:avLst>
              <a:gd name="adj" fmla="val 5796"/>
            </a:avLst>
          </a:prstGeom>
          <a:solidFill>
            <a:srgbClr val="152060"/>
          </a:solidFill>
          <a:ln w="6350">
            <a:solidFill>
              <a:srgbClr val="2B3A80"/>
            </a:solidFill>
            <a:prstDash val="solid"/>
          </a:ln>
        </p:spPr>
      </p:sp>
      <p:sp>
        <p:nvSpPr>
          <p:cNvPr id="10" name="Text 8"/>
          <p:cNvSpPr/>
          <p:nvPr/>
        </p:nvSpPr>
        <p:spPr>
          <a:xfrm>
            <a:off x="819130" y="4124722"/>
            <a:ext cx="324476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6A3D"/>
                </a:solidFill>
                <a:latin typeface="Onest SemiBold" pitchFamily="34" charset="0"/>
                <a:ea typeface="Onest SemiBold" pitchFamily="34" charset="-122"/>
                <a:cs typeface="Onest SemiBold" pitchFamily="34" charset="0"/>
              </a:rPr>
              <a:t>RULE 1</a:t>
            </a:r>
            <a:endParaRPr lang="en-US" sz="1050" dirty="0"/>
          </a:p>
        </p:txBody>
      </p:sp>
      <p:sp>
        <p:nvSpPr>
          <p:cNvPr id="11" name="Text 9"/>
          <p:cNvSpPr/>
          <p:nvPr/>
        </p:nvSpPr>
        <p:spPr>
          <a:xfrm>
            <a:off x="819130" y="4360863"/>
            <a:ext cx="3035224"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Route Acceptance</a:t>
            </a:r>
            <a:endParaRPr lang="en-US" sz="1800" dirty="0"/>
          </a:p>
        </p:txBody>
      </p:sp>
      <p:sp>
        <p:nvSpPr>
          <p:cNvPr id="12" name="Text 10"/>
          <p:cNvSpPr/>
          <p:nvPr/>
        </p:nvSpPr>
        <p:spPr>
          <a:xfrm>
            <a:off x="819130" y="4859933"/>
            <a:ext cx="3035224" cy="946150"/>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Accept update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if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If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accept only if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Newer destination updates always supersede older routes.</a:t>
            </a:r>
            <a:endParaRPr lang="en-US" sz="1350" dirty="0"/>
          </a:p>
        </p:txBody>
      </p:sp>
      <p:pic>
        <p:nvPicPr>
          <p:cNvPr id="13" name="Image 0" descr="preencoded.png"/>
          <p:cNvPicPr>
            <a:picLocks noChangeAspect="1"/>
          </p:cNvPicPr>
          <p:nvPr/>
        </p:nvPicPr>
        <p:blipFill>
          <a:blip r:embed="rId3"/>
          <a:stretch>
            <a:fillRect/>
          </a:stretch>
        </p:blipFill>
        <p:spPr>
          <a:xfrm>
            <a:off x="2042466" y="4878983"/>
            <a:ext cx="566227" cy="213618"/>
          </a:xfrm>
          <a:prstGeom prst="rect">
            <a:avLst/>
          </a:prstGeom>
        </p:spPr>
      </p:pic>
      <p:pic>
        <p:nvPicPr>
          <p:cNvPr id="14" name="Image 1" descr="preencoded.png"/>
          <p:cNvPicPr>
            <a:picLocks noChangeAspect="1"/>
          </p:cNvPicPr>
          <p:nvPr/>
        </p:nvPicPr>
        <p:blipFill>
          <a:blip r:embed="rId4"/>
          <a:stretch>
            <a:fillRect/>
          </a:stretch>
        </p:blipFill>
        <p:spPr>
          <a:xfrm>
            <a:off x="2903045" y="4870979"/>
            <a:ext cx="509376" cy="213618"/>
          </a:xfrm>
          <a:prstGeom prst="rect">
            <a:avLst/>
          </a:prstGeom>
        </p:spPr>
      </p:pic>
      <p:pic>
        <p:nvPicPr>
          <p:cNvPr id="15" name="Image 2" descr="preencoded.png"/>
          <p:cNvPicPr>
            <a:picLocks noChangeAspect="1"/>
          </p:cNvPicPr>
          <p:nvPr/>
        </p:nvPicPr>
        <p:blipFill>
          <a:blip r:embed="rId5"/>
          <a:stretch>
            <a:fillRect/>
          </a:stretch>
        </p:blipFill>
        <p:spPr>
          <a:xfrm>
            <a:off x="819130" y="5115520"/>
            <a:ext cx="509376" cy="213618"/>
          </a:xfrm>
          <a:prstGeom prst="rect">
            <a:avLst/>
          </a:prstGeom>
        </p:spPr>
      </p:pic>
      <p:pic>
        <p:nvPicPr>
          <p:cNvPr id="16" name="Image 3" descr="preencoded.png"/>
          <p:cNvPicPr>
            <a:picLocks noChangeAspect="1"/>
          </p:cNvPicPr>
          <p:nvPr/>
        </p:nvPicPr>
        <p:blipFill>
          <a:blip r:embed="rId6"/>
          <a:stretch>
            <a:fillRect/>
          </a:stretch>
        </p:blipFill>
        <p:spPr>
          <a:xfrm>
            <a:off x="2071933" y="5090567"/>
            <a:ext cx="867646" cy="213618"/>
          </a:xfrm>
          <a:prstGeom prst="rect">
            <a:avLst/>
          </a:prstGeom>
        </p:spPr>
      </p:pic>
      <p:sp>
        <p:nvSpPr>
          <p:cNvPr id="17" name="Shape 11"/>
          <p:cNvSpPr/>
          <p:nvPr/>
        </p:nvSpPr>
        <p:spPr>
          <a:xfrm>
            <a:off x="4368691" y="3911997"/>
            <a:ext cx="3454314" cy="2103636"/>
          </a:xfrm>
          <a:prstGeom prst="roundRect">
            <a:avLst>
              <a:gd name="adj" fmla="val 5796"/>
            </a:avLst>
          </a:prstGeom>
          <a:solidFill>
            <a:srgbClr val="152060"/>
          </a:solidFill>
          <a:ln w="6350">
            <a:solidFill>
              <a:srgbClr val="2B3A80"/>
            </a:solidFill>
            <a:prstDash val="solid"/>
          </a:ln>
        </p:spPr>
      </p:sp>
      <p:sp>
        <p:nvSpPr>
          <p:cNvPr id="18" name="Text 12"/>
          <p:cNvSpPr/>
          <p:nvPr/>
        </p:nvSpPr>
        <p:spPr>
          <a:xfrm>
            <a:off x="4578235" y="4124722"/>
            <a:ext cx="324476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6A3D"/>
                </a:solidFill>
                <a:latin typeface="Onest SemiBold" pitchFamily="34" charset="0"/>
                <a:ea typeface="Onest SemiBold" pitchFamily="34" charset="-122"/>
                <a:cs typeface="Onest SemiBold" pitchFamily="34" charset="0"/>
              </a:rPr>
              <a:t>RULE 2</a:t>
            </a:r>
            <a:endParaRPr lang="en-US" sz="1050" dirty="0"/>
          </a:p>
        </p:txBody>
      </p:sp>
      <p:sp>
        <p:nvSpPr>
          <p:cNvPr id="19" name="Text 13"/>
          <p:cNvSpPr/>
          <p:nvPr/>
        </p:nvSpPr>
        <p:spPr>
          <a:xfrm>
            <a:off x="4578235" y="4360863"/>
            <a:ext cx="3035224"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Settling Delay Filter</a:t>
            </a:r>
            <a:endParaRPr lang="en-US" sz="1800" dirty="0"/>
          </a:p>
        </p:txBody>
      </p:sp>
      <p:sp>
        <p:nvSpPr>
          <p:cNvPr id="20" name="Text 14"/>
          <p:cNvSpPr/>
          <p:nvPr/>
        </p:nvSpPr>
        <p:spPr>
          <a:xfrm>
            <a:off x="4578235" y="4859933"/>
            <a:ext cx="3035224" cy="946150"/>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Route advertisements are deferred until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to suppress premature broadcasts of fluctuating secondary paths.</a:t>
            </a:r>
            <a:endParaRPr lang="en-US" sz="1350" dirty="0"/>
          </a:p>
        </p:txBody>
      </p:sp>
      <p:pic>
        <p:nvPicPr>
          <p:cNvPr id="21" name="Image 4" descr="preencoded.png"/>
          <p:cNvPicPr>
            <a:picLocks noChangeAspect="1"/>
          </p:cNvPicPr>
          <p:nvPr/>
        </p:nvPicPr>
        <p:blipFill>
          <a:blip r:embed="rId7"/>
          <a:stretch>
            <a:fillRect/>
          </a:stretch>
        </p:blipFill>
        <p:spPr>
          <a:xfrm>
            <a:off x="4963195" y="5115520"/>
            <a:ext cx="1361644" cy="213618"/>
          </a:xfrm>
          <a:prstGeom prst="rect">
            <a:avLst/>
          </a:prstGeom>
        </p:spPr>
      </p:pic>
      <p:sp>
        <p:nvSpPr>
          <p:cNvPr id="22" name="Shape 15"/>
          <p:cNvSpPr/>
          <p:nvPr/>
        </p:nvSpPr>
        <p:spPr>
          <a:xfrm>
            <a:off x="8127797" y="3911997"/>
            <a:ext cx="3454314" cy="2103636"/>
          </a:xfrm>
          <a:prstGeom prst="roundRect">
            <a:avLst>
              <a:gd name="adj" fmla="val 5796"/>
            </a:avLst>
          </a:prstGeom>
          <a:solidFill>
            <a:srgbClr val="152060"/>
          </a:solidFill>
          <a:ln w="6350">
            <a:solidFill>
              <a:srgbClr val="2B3A80"/>
            </a:solidFill>
            <a:prstDash val="solid"/>
          </a:ln>
        </p:spPr>
      </p:sp>
      <p:sp>
        <p:nvSpPr>
          <p:cNvPr id="23" name="Text 16"/>
          <p:cNvSpPr/>
          <p:nvPr/>
        </p:nvSpPr>
        <p:spPr>
          <a:xfrm>
            <a:off x="8337341" y="4124722"/>
            <a:ext cx="324476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6A3D"/>
                </a:solidFill>
                <a:latin typeface="Onest SemiBold" pitchFamily="34" charset="0"/>
                <a:ea typeface="Onest SemiBold" pitchFamily="34" charset="-122"/>
                <a:cs typeface="Onest SemiBold" pitchFamily="34" charset="0"/>
              </a:rPr>
              <a:t>RULE 3</a:t>
            </a:r>
            <a:endParaRPr lang="en-US" sz="1050" dirty="0"/>
          </a:p>
        </p:txBody>
      </p:sp>
      <p:sp>
        <p:nvSpPr>
          <p:cNvPr id="24" name="Text 17"/>
          <p:cNvSpPr/>
          <p:nvPr/>
        </p:nvSpPr>
        <p:spPr>
          <a:xfrm>
            <a:off x="8337341" y="4360863"/>
            <a:ext cx="3035224"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Link Breakage Signal</a:t>
            </a:r>
            <a:endParaRPr lang="en-US" sz="1800" dirty="0"/>
          </a:p>
        </p:txBody>
      </p:sp>
      <p:sp>
        <p:nvSpPr>
          <p:cNvPr id="25" name="Text 18"/>
          <p:cNvSpPr/>
          <p:nvPr/>
        </p:nvSpPr>
        <p:spPr>
          <a:xfrm>
            <a:off x="8337341" y="4859933"/>
            <a:ext cx="3035224" cy="946150"/>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On physical link loss, metric becomes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and destination sequence number increments to an odd integer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a:t>
            </a:r>
            <a:endParaRPr lang="en-US" sz="1350" dirty="0"/>
          </a:p>
        </p:txBody>
      </p:sp>
      <p:pic>
        <p:nvPicPr>
          <p:cNvPr id="26" name="Image 5" descr="preencoded.png"/>
          <p:cNvPicPr>
            <a:picLocks noChangeAspect="1"/>
          </p:cNvPicPr>
          <p:nvPr/>
        </p:nvPicPr>
        <p:blipFill>
          <a:blip r:embed="rId8"/>
          <a:stretch>
            <a:fillRect/>
          </a:stretch>
        </p:blipFill>
        <p:spPr>
          <a:xfrm>
            <a:off x="8337341" y="5115520"/>
            <a:ext cx="558885" cy="213618"/>
          </a:xfrm>
          <a:prstGeom prst="rect">
            <a:avLst/>
          </a:prstGeom>
        </p:spPr>
      </p:pic>
      <p:pic>
        <p:nvPicPr>
          <p:cNvPr id="27" name="Image 6" descr="preencoded.png"/>
          <p:cNvPicPr>
            <a:picLocks noChangeAspect="1"/>
          </p:cNvPicPr>
          <p:nvPr/>
        </p:nvPicPr>
        <p:blipFill>
          <a:blip r:embed="rId9"/>
          <a:stretch>
            <a:fillRect/>
          </a:stretch>
        </p:blipFill>
        <p:spPr>
          <a:xfrm>
            <a:off x="8337341" y="5588595"/>
            <a:ext cx="757417" cy="2136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09585" y="910630"/>
            <a:ext cx="2779742" cy="283865"/>
          </a:xfrm>
          <a:prstGeom prst="roundRect">
            <a:avLst>
              <a:gd name="adj" fmla="val 32212"/>
            </a:avLst>
          </a:prstGeom>
          <a:solidFill>
            <a:srgbClr val="FF6A3D"/>
          </a:solidFill>
          <a:ln/>
        </p:spPr>
      </p:sp>
      <p:sp>
        <p:nvSpPr>
          <p:cNvPr id="3" name="Text 1"/>
          <p:cNvSpPr/>
          <p:nvPr/>
        </p:nvSpPr>
        <p:spPr>
          <a:xfrm>
            <a:off x="723882" y="959028"/>
            <a:ext cx="3160733"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0D174F"/>
                </a:solidFill>
                <a:latin typeface="Onest SemiBold" pitchFamily="34" charset="0"/>
                <a:ea typeface="Onest SemiBold" pitchFamily="34" charset="-122"/>
                <a:cs typeface="Onest SemiBold" pitchFamily="34" charset="0"/>
              </a:rPr>
              <a:t>04 · OPTIMISATION ENGINE</a:t>
            </a:r>
            <a:endParaRPr lang="en-US" sz="1300" dirty="0"/>
          </a:p>
        </p:txBody>
      </p:sp>
      <p:sp>
        <p:nvSpPr>
          <p:cNvPr id="4" name="Text 2"/>
          <p:cNvSpPr/>
          <p:nvPr/>
        </p:nvSpPr>
        <p:spPr>
          <a:xfrm>
            <a:off x="609585" y="1431930"/>
            <a:ext cx="5516821" cy="880864"/>
          </a:xfrm>
          <a:prstGeom prst="rect">
            <a:avLst/>
          </a:prstGeom>
          <a:noFill/>
          <a:ln/>
        </p:spPr>
        <p:txBody>
          <a:bodyPr wrap="square" lIns="0" tIns="0" rIns="0" bIns="0" rtlCol="0" anchor="t">
            <a:normAutofit/>
          </a:bodyPr>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0"/>
              </a:rPr>
              <a:t>GWO closes in on the best solution </a:t>
            </a:r>
            <a:r>
              <a:rPr lang="en-US" sz="3400" b="1" kern="100" spc="-85" dirty="0">
                <a:solidFill>
                  <a:srgbClr val="FF6A3D"/>
                </a:solidFill>
                <a:latin typeface="Familjen Grotesk Bold" pitchFamily="34" charset="0"/>
                <a:ea typeface="Familjen Grotesk Bold" pitchFamily="34" charset="-122"/>
                <a:cs typeface="Familjen Grotesk Bold" pitchFamily="34" charset="0"/>
              </a:rPr>
              <a:t>through three leaders</a:t>
            </a:r>
            <a:endParaRPr lang="en-US" sz="3400" dirty="0"/>
          </a:p>
        </p:txBody>
      </p:sp>
      <p:sp>
        <p:nvSpPr>
          <p:cNvPr id="5" name="Text 3"/>
          <p:cNvSpPr/>
          <p:nvPr/>
        </p:nvSpPr>
        <p:spPr>
          <a:xfrm>
            <a:off x="609585" y="2523034"/>
            <a:ext cx="5516821"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The pack mimics grey wolf social hunting hierarchy: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represent the best three solutions, guiding the remaining wolves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a:t>
            </a:r>
            <a:endParaRPr lang="en-US" sz="1350" dirty="0"/>
          </a:p>
        </p:txBody>
      </p:sp>
      <p:pic>
        <p:nvPicPr>
          <p:cNvPr id="6" name="Image 0" descr="preencoded.png"/>
          <p:cNvPicPr>
            <a:picLocks noChangeAspect="1"/>
          </p:cNvPicPr>
          <p:nvPr/>
        </p:nvPicPr>
        <p:blipFill>
          <a:blip r:embed="rId3"/>
          <a:stretch>
            <a:fillRect/>
          </a:stretch>
        </p:blipFill>
        <p:spPr>
          <a:xfrm>
            <a:off x="4772799" y="2542084"/>
            <a:ext cx="461951" cy="213618"/>
          </a:xfrm>
          <a:prstGeom prst="rect">
            <a:avLst/>
          </a:prstGeom>
        </p:spPr>
      </p:pic>
      <p:pic>
        <p:nvPicPr>
          <p:cNvPr id="7" name="Image 1" descr="preencoded.png"/>
          <p:cNvPicPr>
            <a:picLocks noChangeAspect="1"/>
          </p:cNvPicPr>
          <p:nvPr/>
        </p:nvPicPr>
        <p:blipFill>
          <a:blip r:embed="rId4"/>
          <a:stretch>
            <a:fillRect/>
          </a:stretch>
        </p:blipFill>
        <p:spPr>
          <a:xfrm>
            <a:off x="4961607" y="2778621"/>
            <a:ext cx="130866" cy="213618"/>
          </a:xfrm>
          <a:prstGeom prst="rect">
            <a:avLst/>
          </a:prstGeom>
        </p:spPr>
      </p:pic>
      <p:sp>
        <p:nvSpPr>
          <p:cNvPr id="8" name="Shape 4"/>
          <p:cNvSpPr/>
          <p:nvPr/>
        </p:nvSpPr>
        <p:spPr>
          <a:xfrm>
            <a:off x="609585" y="3123109"/>
            <a:ext cx="1737277" cy="942876"/>
          </a:xfrm>
          <a:prstGeom prst="roundRect">
            <a:avLst>
              <a:gd name="adj" fmla="val 12930"/>
            </a:avLst>
          </a:prstGeom>
          <a:solidFill>
            <a:srgbClr val="152060"/>
          </a:solidFill>
          <a:ln w="6350">
            <a:solidFill>
              <a:srgbClr val="2B3A80"/>
            </a:solidFill>
            <a:prstDash val="solid"/>
          </a:ln>
        </p:spPr>
      </p:sp>
      <p:sp>
        <p:nvSpPr>
          <p:cNvPr id="9" name="Text 5"/>
          <p:cNvSpPr/>
          <p:nvPr/>
        </p:nvSpPr>
        <p:spPr>
          <a:xfrm>
            <a:off x="768331" y="3256617"/>
            <a:ext cx="1578531"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7FA6F2"/>
                </a:solidFill>
                <a:latin typeface="Onest" pitchFamily="34" charset="0"/>
                <a:ea typeface="Onest" pitchFamily="34" charset="-122"/>
                <a:cs typeface="Onest" pitchFamily="34" charset="0"/>
              </a:rPr>
              <a:t>Alpha (α)</a:t>
            </a:r>
            <a:endParaRPr lang="en-US" sz="1150" dirty="0"/>
          </a:p>
        </p:txBody>
      </p:sp>
      <p:sp>
        <p:nvSpPr>
          <p:cNvPr id="10" name="Text 6"/>
          <p:cNvSpPr/>
          <p:nvPr/>
        </p:nvSpPr>
        <p:spPr>
          <a:xfrm>
            <a:off x="768331" y="3624064"/>
            <a:ext cx="1419785"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Best Fit</a:t>
            </a:r>
            <a:endParaRPr lang="en-US" sz="1800" dirty="0"/>
          </a:p>
        </p:txBody>
      </p:sp>
      <p:sp>
        <p:nvSpPr>
          <p:cNvPr id="11" name="Shape 7"/>
          <p:cNvSpPr/>
          <p:nvPr/>
        </p:nvSpPr>
        <p:spPr>
          <a:xfrm>
            <a:off x="2499258" y="3123109"/>
            <a:ext cx="1737376" cy="942876"/>
          </a:xfrm>
          <a:prstGeom prst="roundRect">
            <a:avLst>
              <a:gd name="adj" fmla="val 12930"/>
            </a:avLst>
          </a:prstGeom>
          <a:solidFill>
            <a:srgbClr val="152060"/>
          </a:solidFill>
          <a:ln w="6350">
            <a:solidFill>
              <a:srgbClr val="2B3A80"/>
            </a:solidFill>
            <a:prstDash val="solid"/>
          </a:ln>
        </p:spPr>
      </p:sp>
      <p:sp>
        <p:nvSpPr>
          <p:cNvPr id="12" name="Text 8"/>
          <p:cNvSpPr/>
          <p:nvPr/>
        </p:nvSpPr>
        <p:spPr>
          <a:xfrm>
            <a:off x="2658004" y="3256617"/>
            <a:ext cx="1578630"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FF6A3D"/>
                </a:solidFill>
                <a:latin typeface="Onest" pitchFamily="34" charset="0"/>
                <a:ea typeface="Onest" pitchFamily="34" charset="-122"/>
                <a:cs typeface="Onest" pitchFamily="34" charset="0"/>
              </a:rPr>
              <a:t>Beta (β)</a:t>
            </a:r>
            <a:endParaRPr lang="en-US" sz="1150" dirty="0"/>
          </a:p>
        </p:txBody>
      </p:sp>
      <p:sp>
        <p:nvSpPr>
          <p:cNvPr id="13" name="Text 9"/>
          <p:cNvSpPr/>
          <p:nvPr/>
        </p:nvSpPr>
        <p:spPr>
          <a:xfrm>
            <a:off x="2658004" y="3624064"/>
            <a:ext cx="1419884"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Second</a:t>
            </a:r>
            <a:endParaRPr lang="en-US" sz="1800" dirty="0"/>
          </a:p>
        </p:txBody>
      </p:sp>
      <p:sp>
        <p:nvSpPr>
          <p:cNvPr id="14" name="Shape 10"/>
          <p:cNvSpPr/>
          <p:nvPr/>
        </p:nvSpPr>
        <p:spPr>
          <a:xfrm>
            <a:off x="4389030" y="3123109"/>
            <a:ext cx="1737277" cy="942876"/>
          </a:xfrm>
          <a:prstGeom prst="roundRect">
            <a:avLst>
              <a:gd name="adj" fmla="val 12930"/>
            </a:avLst>
          </a:prstGeom>
          <a:solidFill>
            <a:srgbClr val="152060"/>
          </a:solidFill>
          <a:ln w="6350">
            <a:solidFill>
              <a:srgbClr val="2B3A80"/>
            </a:solidFill>
            <a:prstDash val="solid"/>
          </a:ln>
        </p:spPr>
      </p:sp>
      <p:sp>
        <p:nvSpPr>
          <p:cNvPr id="15" name="Text 11"/>
          <p:cNvSpPr/>
          <p:nvPr/>
        </p:nvSpPr>
        <p:spPr>
          <a:xfrm>
            <a:off x="4547776" y="3256617"/>
            <a:ext cx="1578531"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FFC233"/>
                </a:solidFill>
                <a:latin typeface="Onest" pitchFamily="34" charset="0"/>
                <a:ea typeface="Onest" pitchFamily="34" charset="-122"/>
                <a:cs typeface="Onest" pitchFamily="34" charset="0"/>
              </a:rPr>
              <a:t>Delta (δ)</a:t>
            </a:r>
            <a:endParaRPr lang="en-US" sz="1150" dirty="0"/>
          </a:p>
        </p:txBody>
      </p:sp>
      <p:sp>
        <p:nvSpPr>
          <p:cNvPr id="16" name="Text 12"/>
          <p:cNvSpPr/>
          <p:nvPr/>
        </p:nvSpPr>
        <p:spPr>
          <a:xfrm>
            <a:off x="4547776" y="3624064"/>
            <a:ext cx="1419785"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Third</a:t>
            </a:r>
            <a:endParaRPr lang="en-US" sz="1800" dirty="0"/>
          </a:p>
        </p:txBody>
      </p:sp>
      <p:pic>
        <p:nvPicPr>
          <p:cNvPr id="17" name="Image 2" descr="preencoded.png"/>
          <p:cNvPicPr>
            <a:picLocks noChangeAspect="1"/>
          </p:cNvPicPr>
          <p:nvPr/>
        </p:nvPicPr>
        <p:blipFill>
          <a:blip r:embed="rId5"/>
          <a:stretch>
            <a:fillRect/>
          </a:stretch>
        </p:blipFill>
        <p:spPr>
          <a:xfrm>
            <a:off x="609585" y="4192984"/>
            <a:ext cx="5516821" cy="344587"/>
          </a:xfrm>
          <a:prstGeom prst="rect">
            <a:avLst/>
          </a:prstGeom>
        </p:spPr>
      </p:pic>
      <p:pic>
        <p:nvPicPr>
          <p:cNvPr id="18" name="Image 3" descr="preencoded.png"/>
          <p:cNvPicPr>
            <a:picLocks noChangeAspect="1"/>
          </p:cNvPicPr>
          <p:nvPr/>
        </p:nvPicPr>
        <p:blipFill>
          <a:blip r:embed="rId6"/>
          <a:stretch>
            <a:fillRect/>
          </a:stretch>
        </p:blipFill>
        <p:spPr>
          <a:xfrm>
            <a:off x="609585" y="4715371"/>
            <a:ext cx="5516821" cy="344587"/>
          </a:xfrm>
          <a:prstGeom prst="rect">
            <a:avLst/>
          </a:prstGeom>
        </p:spPr>
      </p:pic>
      <p:sp>
        <p:nvSpPr>
          <p:cNvPr id="19" name="Text 13"/>
          <p:cNvSpPr/>
          <p:nvPr/>
        </p:nvSpPr>
        <p:spPr>
          <a:xfrm>
            <a:off x="609585" y="5237758"/>
            <a:ext cx="5516821" cy="709613"/>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0"/>
              </a:rPr>
              <a:t>Parameter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decays linearly from 2 to 0 across iterations: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enforces global exploration, while </a:t>
            </a:r>
            <a:r>
              <a:rPr lang="en-US" sz="1300" i="1" dirty="0">
                <a:solidFill>
                  <a:srgbClr val="E9EEFF"/>
                </a:solidFill>
                <a:latin typeface="Onest" pitchFamily="34" charset="0"/>
                <a:ea typeface="Onest" pitchFamily="34" charset="-122"/>
                <a:cs typeface="Onest" pitchFamily="34" charset="0"/>
              </a:rPr>
              <a:t>    </a:t>
            </a:r>
            <a:r>
              <a:rPr lang="en-US" sz="1350" dirty="0">
                <a:solidFill>
                  <a:srgbClr val="E9EEFF"/>
                </a:solidFill>
                <a:latin typeface="Onest" pitchFamily="34" charset="0"/>
                <a:ea typeface="Onest" pitchFamily="34" charset="-122"/>
                <a:cs typeface="Onest" pitchFamily="34" charset="0"/>
              </a:rPr>
              <a:t> forces local exploitation around the pack leaders.</a:t>
            </a:r>
            <a:endParaRPr lang="en-US" sz="1350" dirty="0"/>
          </a:p>
        </p:txBody>
      </p:sp>
      <p:pic>
        <p:nvPicPr>
          <p:cNvPr id="20" name="Image 4" descr="preencoded.png"/>
          <p:cNvPicPr>
            <a:picLocks noChangeAspect="1"/>
          </p:cNvPicPr>
          <p:nvPr/>
        </p:nvPicPr>
        <p:blipFill>
          <a:blip r:embed="rId7"/>
          <a:stretch>
            <a:fillRect/>
          </a:stretch>
        </p:blipFill>
        <p:spPr>
          <a:xfrm>
            <a:off x="1479017" y="5256808"/>
            <a:ext cx="109336" cy="213618"/>
          </a:xfrm>
          <a:prstGeom prst="rect">
            <a:avLst/>
          </a:prstGeom>
        </p:spPr>
      </p:pic>
      <p:pic>
        <p:nvPicPr>
          <p:cNvPr id="21" name="Image 5" descr="preencoded.png"/>
          <p:cNvPicPr>
            <a:picLocks noChangeAspect="1"/>
          </p:cNvPicPr>
          <p:nvPr/>
        </p:nvPicPr>
        <p:blipFill>
          <a:blip r:embed="rId8"/>
          <a:stretch>
            <a:fillRect/>
          </a:stretch>
        </p:blipFill>
        <p:spPr>
          <a:xfrm>
            <a:off x="5227705" y="5256808"/>
            <a:ext cx="546979" cy="213618"/>
          </a:xfrm>
          <a:prstGeom prst="rect">
            <a:avLst/>
          </a:prstGeom>
        </p:spPr>
      </p:pic>
      <p:pic>
        <p:nvPicPr>
          <p:cNvPr id="22" name="Image 6" descr="preencoded.png"/>
          <p:cNvPicPr>
            <a:picLocks noChangeAspect="1"/>
          </p:cNvPicPr>
          <p:nvPr/>
        </p:nvPicPr>
        <p:blipFill>
          <a:blip r:embed="rId9"/>
          <a:stretch>
            <a:fillRect/>
          </a:stretch>
        </p:blipFill>
        <p:spPr>
          <a:xfrm>
            <a:off x="3329400" y="5493345"/>
            <a:ext cx="546979" cy="213618"/>
          </a:xfrm>
          <a:prstGeom prst="rect">
            <a:avLst/>
          </a:prstGeom>
        </p:spPr>
      </p:pic>
      <p:sp>
        <p:nvSpPr>
          <p:cNvPr id="23" name="Shape 14"/>
          <p:cNvSpPr/>
          <p:nvPr/>
        </p:nvSpPr>
        <p:spPr>
          <a:xfrm>
            <a:off x="7040684" y="0"/>
            <a:ext cx="5151011" cy="6858000"/>
          </a:xfrm>
          <a:prstGeom prst="roundRect">
            <a:avLst>
              <a:gd name="adj" fmla="val 2367"/>
            </a:avLst>
          </a:prstGeom>
          <a:solidFill>
            <a:srgbClr val="152060"/>
          </a:solidFill>
          <a:ln w="6350">
            <a:solidFill>
              <a:srgbClr val="2B3A80"/>
            </a:solidFill>
            <a:prstDash val="solid"/>
          </a:ln>
        </p:spPr>
      </p:sp>
      <p:sp>
        <p:nvSpPr>
          <p:cNvPr id="24" name="Text 15"/>
          <p:cNvSpPr/>
          <p:nvPr/>
        </p:nvSpPr>
        <p:spPr>
          <a:xfrm>
            <a:off x="7224829" y="187325"/>
            <a:ext cx="4966866"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E9EEFF"/>
                </a:solidFill>
                <a:latin typeface="Onest SemiBold" pitchFamily="34" charset="0"/>
                <a:ea typeface="Onest SemiBold" pitchFamily="34" charset="-122"/>
                <a:cs typeface="Onest SemiBold" pitchFamily="34" charset="0"/>
              </a:rPr>
              <a:t>BENCHMARK VALIDATION</a:t>
            </a:r>
            <a:endParaRPr lang="en-US" sz="1050" dirty="0"/>
          </a:p>
        </p:txBody>
      </p:sp>
      <p:pic>
        <p:nvPicPr>
          <p:cNvPr id="25" name="Image 7" descr="preencoded.png"/>
          <p:cNvPicPr>
            <a:picLocks noChangeAspect="1"/>
          </p:cNvPicPr>
          <p:nvPr/>
        </p:nvPicPr>
        <p:blipFill>
          <a:blip r:embed="rId10"/>
          <a:stretch>
            <a:fillRect/>
          </a:stretch>
        </p:blipFill>
        <p:spPr>
          <a:xfrm>
            <a:off x="7142636" y="-1146721"/>
            <a:ext cx="4782720" cy="5511998"/>
          </a:xfrm>
          <a:prstGeom prst="rect">
            <a:avLst/>
          </a:prstGeom>
        </p:spPr>
      </p:pic>
      <p:sp>
        <p:nvSpPr>
          <p:cNvPr id="26" name="Text 16"/>
          <p:cNvSpPr/>
          <p:nvPr/>
        </p:nvSpPr>
        <p:spPr>
          <a:xfrm>
            <a:off x="7224829" y="6251524"/>
            <a:ext cx="4782720" cy="462161"/>
          </a:xfrm>
          <a:prstGeom prst="rect">
            <a:avLst/>
          </a:prstGeom>
          <a:noFill/>
          <a:ln/>
        </p:spPr>
        <p:txBody>
          <a:bodyPr wrap="square" lIns="0" tIns="76198" rIns="0" bIns="0" rtlCol="0" anchor="t">
            <a:normAutofit/>
          </a:bodyPr>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0"/>
              </a:rPr>
              <a:t>Synthetic validation: Sphere achieves </a:t>
            </a:r>
            <a:r>
              <a:rPr lang="en-US" sz="1100" i="1" kern="100" spc="11" dirty="0">
                <a:solidFill>
                  <a:srgbClr val="E9EEFF"/>
                </a:solidFill>
                <a:latin typeface="Onest" pitchFamily="34" charset="0"/>
                <a:ea typeface="Onest" pitchFamily="34" charset="-122"/>
                <a:cs typeface="Onest" pitchFamily="34" charset="0"/>
              </a:rPr>
              <a:t>      </a:t>
            </a:r>
            <a:r>
              <a:rPr lang="en-US" sz="1150" kern="100" spc="11" dirty="0">
                <a:solidFill>
                  <a:srgbClr val="E9EEFF"/>
                </a:solidFill>
                <a:latin typeface="Onest" pitchFamily="34" charset="0"/>
                <a:ea typeface="Onest" pitchFamily="34" charset="-122"/>
                <a:cs typeface="Onest" pitchFamily="34" charset="0"/>
              </a:rPr>
              <a:t>; multimodal Rastrigin achieves exact global minimum </a:t>
            </a:r>
            <a:r>
              <a:rPr lang="en-US" sz="1100" i="1" kern="100" spc="11" dirty="0">
                <a:solidFill>
                  <a:srgbClr val="E9EEFF"/>
                </a:solidFill>
                <a:latin typeface="Onest" pitchFamily="34" charset="0"/>
                <a:ea typeface="Onest" pitchFamily="34" charset="-122"/>
                <a:cs typeface="Onest" pitchFamily="34" charset="0"/>
              </a:rPr>
              <a:t>  </a:t>
            </a:r>
            <a:r>
              <a:rPr lang="en-US" sz="1150" kern="100" spc="11" dirty="0">
                <a:solidFill>
                  <a:srgbClr val="E9EEFF"/>
                </a:solidFill>
                <a:latin typeface="Onest" pitchFamily="34" charset="0"/>
                <a:ea typeface="Onest" pitchFamily="34" charset="-122"/>
                <a:cs typeface="Onest" pitchFamily="34" charset="0"/>
              </a:rPr>
              <a:t>.</a:t>
            </a:r>
            <a:endParaRPr lang="en-US" sz="1150" dirty="0"/>
          </a:p>
        </p:txBody>
      </p:sp>
      <p:pic>
        <p:nvPicPr>
          <p:cNvPr id="27" name="Image 8" descr="preencoded.png"/>
          <p:cNvPicPr>
            <a:picLocks noChangeAspect="1"/>
          </p:cNvPicPr>
          <p:nvPr/>
        </p:nvPicPr>
        <p:blipFill>
          <a:blip r:embed="rId11"/>
          <a:stretch>
            <a:fillRect/>
          </a:stretch>
        </p:blipFill>
        <p:spPr>
          <a:xfrm>
            <a:off x="9876682" y="6306939"/>
            <a:ext cx="787678" cy="171152"/>
          </a:xfrm>
          <a:prstGeom prst="rect">
            <a:avLst/>
          </a:prstGeom>
        </p:spPr>
      </p:pic>
      <p:pic>
        <p:nvPicPr>
          <p:cNvPr id="28" name="Image 9" descr="preencoded.png"/>
          <p:cNvPicPr>
            <a:picLocks noChangeAspect="1"/>
          </p:cNvPicPr>
          <p:nvPr/>
        </p:nvPicPr>
        <p:blipFill>
          <a:blip r:embed="rId12"/>
          <a:stretch>
            <a:fillRect/>
          </a:stretch>
        </p:blipFill>
        <p:spPr>
          <a:xfrm>
            <a:off x="10051005" y="6496745"/>
            <a:ext cx="204386" cy="171152"/>
          </a:xfrm>
          <a:prstGeom prst="rect">
            <a:avLst/>
          </a:prstGeom>
        </p:spPr>
      </p:pic>
      <p:pic>
        <p:nvPicPr>
          <p:cNvPr id="30" name="Picture 29">
            <a:extLst>
              <a:ext uri="{FF2B5EF4-FFF2-40B4-BE49-F238E27FC236}">
                <a16:creationId xmlns:a16="http://schemas.microsoft.com/office/drawing/2014/main" id="{1EFDF2BF-0EFF-E8C1-4680-473051C32534}"/>
              </a:ext>
            </a:extLst>
          </p:cNvPr>
          <p:cNvPicPr>
            <a:picLocks noChangeAspect="1"/>
          </p:cNvPicPr>
          <p:nvPr/>
        </p:nvPicPr>
        <p:blipFill>
          <a:blip r:embed="rId13"/>
          <a:stretch>
            <a:fillRect/>
          </a:stretch>
        </p:blipFill>
        <p:spPr>
          <a:xfrm>
            <a:off x="7142636" y="2695674"/>
            <a:ext cx="4782720" cy="31732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09585" y="1142702"/>
            <a:ext cx="2873502" cy="283865"/>
          </a:xfrm>
          <a:prstGeom prst="roundRect">
            <a:avLst>
              <a:gd name="adj" fmla="val 32212"/>
            </a:avLst>
          </a:prstGeom>
          <a:solidFill>
            <a:srgbClr val="FFC233"/>
          </a:solidFill>
          <a:ln/>
        </p:spPr>
      </p:sp>
      <p:sp>
        <p:nvSpPr>
          <p:cNvPr id="3" name="Text 1"/>
          <p:cNvSpPr/>
          <p:nvPr/>
        </p:nvSpPr>
        <p:spPr>
          <a:xfrm>
            <a:off x="723882" y="1191101"/>
            <a:ext cx="3254492"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0D174F"/>
                </a:solidFill>
                <a:latin typeface="Onest SemiBold" pitchFamily="34" charset="0"/>
                <a:ea typeface="Onest SemiBold" pitchFamily="34" charset="-122"/>
                <a:cs typeface="Onest SemiBold" pitchFamily="34" charset="0"/>
              </a:rPr>
              <a:t>05 · FITNESS FORMULATION</a:t>
            </a:r>
            <a:endParaRPr lang="en-US" sz="1300" dirty="0"/>
          </a:p>
        </p:txBody>
      </p:sp>
      <p:sp>
        <p:nvSpPr>
          <p:cNvPr id="4" name="Text 2"/>
          <p:cNvSpPr/>
          <p:nvPr/>
        </p:nvSpPr>
        <p:spPr>
          <a:xfrm>
            <a:off x="609585" y="1584628"/>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0"/>
              </a:rPr>
              <a:t>Simulator blocks feed a </a:t>
            </a:r>
            <a:r>
              <a:rPr lang="en-US" sz="3400" b="1" kern="100" spc="-85" dirty="0">
                <a:solidFill>
                  <a:srgbClr val="FFC233"/>
                </a:solidFill>
                <a:latin typeface="Familjen Grotesk Bold" pitchFamily="34" charset="0"/>
                <a:ea typeface="Familjen Grotesk Bold" pitchFamily="34" charset="-122"/>
                <a:cs typeface="Familjen Grotesk Bold" pitchFamily="34" charset="0"/>
              </a:rPr>
              <a:t>weighted fitness score</a:t>
            </a:r>
            <a:endParaRPr lang="en-US" sz="3400" dirty="0"/>
          </a:p>
        </p:txBody>
      </p:sp>
      <p:sp>
        <p:nvSpPr>
          <p:cNvPr id="5" name="Shape 3"/>
          <p:cNvSpPr/>
          <p:nvPr/>
        </p:nvSpPr>
        <p:spPr>
          <a:xfrm>
            <a:off x="609585" y="2235299"/>
            <a:ext cx="2072628" cy="1464568"/>
          </a:xfrm>
          <a:prstGeom prst="roundRect">
            <a:avLst>
              <a:gd name="adj" fmla="val 8324"/>
            </a:avLst>
          </a:prstGeom>
          <a:solidFill>
            <a:srgbClr val="152060"/>
          </a:solidFill>
          <a:ln w="6350">
            <a:solidFill>
              <a:srgbClr val="2B3A80"/>
            </a:solidFill>
            <a:prstDash val="solid"/>
          </a:ln>
        </p:spPr>
      </p:sp>
      <p:sp>
        <p:nvSpPr>
          <p:cNvPr id="6" name="Text 4"/>
          <p:cNvSpPr/>
          <p:nvPr/>
        </p:nvSpPr>
        <p:spPr>
          <a:xfrm>
            <a:off x="768331" y="2394208"/>
            <a:ext cx="1913882"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0"/>
              </a:rPr>
              <a:t>Event Queue</a:t>
            </a:r>
            <a:endParaRPr lang="en-US" sz="1150" dirty="0"/>
          </a:p>
        </p:txBody>
      </p:sp>
      <p:sp>
        <p:nvSpPr>
          <p:cNvPr id="7" name="Text 5"/>
          <p:cNvSpPr/>
          <p:nvPr/>
        </p:nvSpPr>
        <p:spPr>
          <a:xfrm>
            <a:off x="768331" y="2761655"/>
            <a:ext cx="1755136" cy="312440"/>
          </a:xfrm>
          <a:prstGeom prst="rect">
            <a:avLst/>
          </a:prstGeom>
          <a:noFill/>
          <a:ln/>
        </p:spPr>
        <p:txBody>
          <a:bodyPr wrap="none" lIns="0" tIns="0" rIns="0" bIns="0" rtlCol="0" anchor="t"/>
          <a:lstStyle/>
          <a:p>
            <a:pPr marL="0" indent="0" algn="l">
              <a:lnSpc>
                <a:spcPct val="113000"/>
              </a:lnSpc>
              <a:buNone/>
            </a:pPr>
            <a:r>
              <a:rPr lang="en-US" sz="1700" i="1" dirty="0">
                <a:solidFill>
                  <a:srgbClr val="E9EEFF"/>
                </a:solidFill>
                <a:latin typeface="Onest" pitchFamily="34" charset="0"/>
                <a:ea typeface="Onest" pitchFamily="34" charset="-122"/>
                <a:cs typeface="Onest" pitchFamily="34" charset="0"/>
              </a:rPr>
              <a:t>     </a:t>
            </a:r>
            <a:endParaRPr lang="en-US" sz="1800" dirty="0"/>
          </a:p>
        </p:txBody>
      </p:sp>
      <p:pic>
        <p:nvPicPr>
          <p:cNvPr id="8" name="Image 0" descr="preencoded.png"/>
          <p:cNvPicPr>
            <a:picLocks noChangeAspect="1"/>
          </p:cNvPicPr>
          <p:nvPr/>
        </p:nvPicPr>
        <p:blipFill>
          <a:blip r:embed="rId3"/>
          <a:stretch>
            <a:fillRect/>
          </a:stretch>
        </p:blipFill>
        <p:spPr>
          <a:xfrm>
            <a:off x="768331" y="2787055"/>
            <a:ext cx="951286" cy="287040"/>
          </a:xfrm>
          <a:prstGeom prst="rect">
            <a:avLst/>
          </a:prstGeom>
        </p:spPr>
      </p:pic>
      <p:sp>
        <p:nvSpPr>
          <p:cNvPr id="9" name="Shape 6"/>
          <p:cNvSpPr/>
          <p:nvPr/>
        </p:nvSpPr>
        <p:spPr>
          <a:xfrm>
            <a:off x="2834510" y="2235299"/>
            <a:ext cx="2072628" cy="1464568"/>
          </a:xfrm>
          <a:prstGeom prst="roundRect">
            <a:avLst>
              <a:gd name="adj" fmla="val 8324"/>
            </a:avLst>
          </a:prstGeom>
          <a:solidFill>
            <a:srgbClr val="152060"/>
          </a:solidFill>
          <a:ln w="6350">
            <a:solidFill>
              <a:srgbClr val="2B3A80"/>
            </a:solidFill>
            <a:prstDash val="solid"/>
          </a:ln>
        </p:spPr>
      </p:sp>
      <p:sp>
        <p:nvSpPr>
          <p:cNvPr id="10" name="Text 7"/>
          <p:cNvSpPr/>
          <p:nvPr/>
        </p:nvSpPr>
        <p:spPr>
          <a:xfrm>
            <a:off x="2993256" y="2394208"/>
            <a:ext cx="1913882"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0"/>
              </a:rPr>
              <a:t>Mobility</a:t>
            </a:r>
            <a:endParaRPr lang="en-US" sz="1150" dirty="0"/>
          </a:p>
        </p:txBody>
      </p:sp>
      <p:sp>
        <p:nvSpPr>
          <p:cNvPr id="11" name="Text 8"/>
          <p:cNvSpPr/>
          <p:nvPr/>
        </p:nvSpPr>
        <p:spPr>
          <a:xfrm>
            <a:off x="2993256" y="2761655"/>
            <a:ext cx="1755136"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Random Waypoint</a:t>
            </a:r>
            <a:endParaRPr lang="en-US" sz="1800" dirty="0"/>
          </a:p>
        </p:txBody>
      </p:sp>
      <p:sp>
        <p:nvSpPr>
          <p:cNvPr id="12" name="Shape 9"/>
          <p:cNvSpPr/>
          <p:nvPr/>
        </p:nvSpPr>
        <p:spPr>
          <a:xfrm>
            <a:off x="5059434" y="2235299"/>
            <a:ext cx="2072727" cy="1464568"/>
          </a:xfrm>
          <a:prstGeom prst="roundRect">
            <a:avLst>
              <a:gd name="adj" fmla="val 8324"/>
            </a:avLst>
          </a:prstGeom>
          <a:solidFill>
            <a:srgbClr val="152060"/>
          </a:solidFill>
          <a:ln w="6350">
            <a:solidFill>
              <a:srgbClr val="2B3A80"/>
            </a:solidFill>
            <a:prstDash val="solid"/>
          </a:ln>
        </p:spPr>
      </p:sp>
      <p:sp>
        <p:nvSpPr>
          <p:cNvPr id="13" name="Text 10"/>
          <p:cNvSpPr/>
          <p:nvPr/>
        </p:nvSpPr>
        <p:spPr>
          <a:xfrm>
            <a:off x="5218180" y="2394208"/>
            <a:ext cx="1913981"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0"/>
              </a:rPr>
              <a:t>Links</a:t>
            </a:r>
            <a:endParaRPr lang="en-US" sz="1150" dirty="0"/>
          </a:p>
        </p:txBody>
      </p:sp>
      <p:sp>
        <p:nvSpPr>
          <p:cNvPr id="14" name="Text 11"/>
          <p:cNvSpPr/>
          <p:nvPr/>
        </p:nvSpPr>
        <p:spPr>
          <a:xfrm>
            <a:off x="5218180" y="2761655"/>
            <a:ext cx="1755235"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Unit-disk</a:t>
            </a:r>
            <a:endParaRPr lang="en-US" sz="1800" dirty="0"/>
          </a:p>
        </p:txBody>
      </p:sp>
      <p:sp>
        <p:nvSpPr>
          <p:cNvPr id="15" name="Text 12"/>
          <p:cNvSpPr/>
          <p:nvPr/>
        </p:nvSpPr>
        <p:spPr>
          <a:xfrm>
            <a:off x="5218180" y="3260725"/>
            <a:ext cx="1913981" cy="280392"/>
          </a:xfrm>
          <a:prstGeom prst="rect">
            <a:avLst/>
          </a:prstGeom>
          <a:noFill/>
          <a:ln/>
        </p:spPr>
        <p:txBody>
          <a:bodyPr wrap="none" lIns="0" tIns="0" rIns="0" bIns="0" rtlCol="0" anchor="t"/>
          <a:lstStyle/>
          <a:p>
            <a:pPr marL="0" indent="0" algn="l">
              <a:lnSpc>
                <a:spcPct val="115000"/>
              </a:lnSpc>
              <a:buNone/>
            </a:pPr>
            <a:r>
              <a:rPr lang="en-US" sz="1500" i="1" dirty="0">
                <a:solidFill>
                  <a:srgbClr val="E9EEFF"/>
                </a:solidFill>
                <a:latin typeface="Onest" pitchFamily="34" charset="0"/>
                <a:ea typeface="Onest" pitchFamily="34" charset="-122"/>
                <a:cs typeface="Onest" pitchFamily="34" charset="0"/>
              </a:rPr>
              <a:t>   </a:t>
            </a:r>
            <a:endParaRPr lang="en-US" sz="1600" dirty="0"/>
          </a:p>
        </p:txBody>
      </p:sp>
      <p:pic>
        <p:nvPicPr>
          <p:cNvPr id="16" name="Image 1" descr="preencoded.png"/>
          <p:cNvPicPr>
            <a:picLocks noChangeAspect="1"/>
          </p:cNvPicPr>
          <p:nvPr/>
        </p:nvPicPr>
        <p:blipFill>
          <a:blip r:embed="rId4"/>
          <a:stretch>
            <a:fillRect/>
          </a:stretch>
        </p:blipFill>
        <p:spPr>
          <a:xfrm>
            <a:off x="5218180" y="3286125"/>
            <a:ext cx="537157" cy="238224"/>
          </a:xfrm>
          <a:prstGeom prst="rect">
            <a:avLst/>
          </a:prstGeom>
        </p:spPr>
      </p:pic>
      <p:sp>
        <p:nvSpPr>
          <p:cNvPr id="17" name="Shape 13"/>
          <p:cNvSpPr/>
          <p:nvPr/>
        </p:nvSpPr>
        <p:spPr>
          <a:xfrm>
            <a:off x="7284458" y="2235299"/>
            <a:ext cx="2072628" cy="1464568"/>
          </a:xfrm>
          <a:prstGeom prst="roundRect">
            <a:avLst>
              <a:gd name="adj" fmla="val 8324"/>
            </a:avLst>
          </a:prstGeom>
          <a:solidFill>
            <a:srgbClr val="152060"/>
          </a:solidFill>
          <a:ln w="6350">
            <a:solidFill>
              <a:srgbClr val="2B3A80"/>
            </a:solidFill>
            <a:prstDash val="solid"/>
          </a:ln>
        </p:spPr>
      </p:sp>
      <p:sp>
        <p:nvSpPr>
          <p:cNvPr id="18" name="Text 14"/>
          <p:cNvSpPr/>
          <p:nvPr/>
        </p:nvSpPr>
        <p:spPr>
          <a:xfrm>
            <a:off x="7443204" y="2394208"/>
            <a:ext cx="1913882"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0"/>
              </a:rPr>
              <a:t>Traffic</a:t>
            </a:r>
            <a:endParaRPr lang="en-US" sz="1150" dirty="0"/>
          </a:p>
        </p:txBody>
      </p:sp>
      <p:sp>
        <p:nvSpPr>
          <p:cNvPr id="19" name="Text 15"/>
          <p:cNvSpPr/>
          <p:nvPr/>
        </p:nvSpPr>
        <p:spPr>
          <a:xfrm>
            <a:off x="7443204" y="2761655"/>
            <a:ext cx="1755136"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0"/>
              </a:rPr>
              <a:t>CBR UDP</a:t>
            </a:r>
            <a:endParaRPr lang="en-US" sz="1800" dirty="0"/>
          </a:p>
        </p:txBody>
      </p:sp>
      <p:sp>
        <p:nvSpPr>
          <p:cNvPr id="22" name="Shape 18"/>
          <p:cNvSpPr/>
          <p:nvPr/>
        </p:nvSpPr>
        <p:spPr>
          <a:xfrm>
            <a:off x="609585" y="3877667"/>
            <a:ext cx="6400640" cy="1837630"/>
          </a:xfrm>
          <a:prstGeom prst="roundRect">
            <a:avLst>
              <a:gd name="adj" fmla="val 6634"/>
            </a:avLst>
          </a:prstGeom>
          <a:solidFill>
            <a:srgbClr val="152060"/>
          </a:solidFill>
          <a:ln w="6350">
            <a:solidFill>
              <a:srgbClr val="2B3A80"/>
            </a:solidFill>
            <a:prstDash val="solid"/>
          </a:ln>
        </p:spPr>
      </p:sp>
      <p:sp>
        <p:nvSpPr>
          <p:cNvPr id="23" name="Text 19"/>
          <p:cNvSpPr/>
          <p:nvPr/>
        </p:nvSpPr>
        <p:spPr>
          <a:xfrm>
            <a:off x="895328" y="4115792"/>
            <a:ext cx="6114897"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C233"/>
                </a:solidFill>
                <a:latin typeface="Onest SemiBold" pitchFamily="34" charset="0"/>
                <a:ea typeface="Onest SemiBold" pitchFamily="34" charset="-122"/>
                <a:cs typeface="Onest SemiBold" pitchFamily="34" charset="0"/>
              </a:rPr>
              <a:t>FITNESS OBJECTIVE FUNCTION</a:t>
            </a:r>
            <a:endParaRPr lang="en-US" sz="1050" dirty="0"/>
          </a:p>
        </p:txBody>
      </p:sp>
      <p:pic>
        <p:nvPicPr>
          <p:cNvPr id="24" name="Image 2" descr="preencoded.png"/>
          <p:cNvPicPr>
            <a:picLocks noChangeAspect="1"/>
          </p:cNvPicPr>
          <p:nvPr/>
        </p:nvPicPr>
        <p:blipFill>
          <a:blip r:embed="rId5"/>
          <a:stretch>
            <a:fillRect/>
          </a:stretch>
        </p:blipFill>
        <p:spPr>
          <a:xfrm>
            <a:off x="895328" y="4374158"/>
            <a:ext cx="5829154" cy="995660"/>
          </a:xfrm>
          <a:prstGeom prst="rect">
            <a:avLst/>
          </a:prstGeom>
        </p:spPr>
      </p:pic>
      <p:sp>
        <p:nvSpPr>
          <p:cNvPr id="25" name="Shape 20"/>
          <p:cNvSpPr/>
          <p:nvPr/>
        </p:nvSpPr>
        <p:spPr>
          <a:xfrm>
            <a:off x="7314918" y="3877667"/>
            <a:ext cx="4267192" cy="1837630"/>
          </a:xfrm>
          <a:prstGeom prst="roundRect">
            <a:avLst>
              <a:gd name="adj" fmla="val 6634"/>
            </a:avLst>
          </a:prstGeom>
          <a:solidFill>
            <a:srgbClr val="080E33"/>
          </a:solidFill>
          <a:ln w="6350">
            <a:solidFill>
              <a:srgbClr val="2B3A80"/>
            </a:solidFill>
            <a:prstDash val="solid"/>
          </a:ln>
        </p:spPr>
      </p:sp>
      <p:sp>
        <p:nvSpPr>
          <p:cNvPr id="26" name="Text 21"/>
          <p:cNvSpPr/>
          <p:nvPr/>
        </p:nvSpPr>
        <p:spPr>
          <a:xfrm>
            <a:off x="7575261" y="4115792"/>
            <a:ext cx="400684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FFFF"/>
                </a:solidFill>
                <a:latin typeface="Onest SemiBold" pitchFamily="34" charset="0"/>
                <a:ea typeface="Onest SemiBold" pitchFamily="34" charset="-122"/>
                <a:cs typeface="Onest SemiBold" pitchFamily="34" charset="0"/>
              </a:rPr>
              <a:t>DISCONNECTION PENALTY</a:t>
            </a:r>
            <a:endParaRPr lang="en-US" sz="1050" dirty="0"/>
          </a:p>
        </p:txBody>
      </p:sp>
      <p:sp>
        <p:nvSpPr>
          <p:cNvPr id="27" name="Text 22"/>
          <p:cNvSpPr/>
          <p:nvPr/>
        </p:nvSpPr>
        <p:spPr>
          <a:xfrm>
            <a:off x="7575261" y="4351933"/>
            <a:ext cx="3746505" cy="377130"/>
          </a:xfrm>
          <a:prstGeom prst="rect">
            <a:avLst/>
          </a:prstGeom>
          <a:noFill/>
          <a:ln/>
        </p:spPr>
        <p:txBody>
          <a:bodyPr wrap="none" lIns="0" tIns="0" rIns="0" bIns="0" rtlCol="0" anchor="t"/>
          <a:lstStyle/>
          <a:p>
            <a:pPr marL="0" indent="0" algn="l">
              <a:lnSpc>
                <a:spcPct val="113000"/>
              </a:lnSpc>
              <a:buNone/>
            </a:pPr>
            <a:r>
              <a:rPr lang="en-US" sz="2200" kern="100" spc="-66" dirty="0">
                <a:solidFill>
                  <a:srgbClr val="FF6A3D"/>
                </a:solidFill>
                <a:latin typeface="Onest" pitchFamily="34" charset="0"/>
                <a:ea typeface="Onest" pitchFamily="34" charset="-122"/>
                <a:cs typeface="Onest" pitchFamily="34" charset="0"/>
              </a:rPr>
              <a:t>+10</a:t>
            </a:r>
            <a:endParaRPr lang="en-US" sz="2200" dirty="0"/>
          </a:p>
        </p:txBody>
      </p:sp>
      <p:sp>
        <p:nvSpPr>
          <p:cNvPr id="28" name="Text 23"/>
          <p:cNvSpPr/>
          <p:nvPr/>
        </p:nvSpPr>
        <p:spPr>
          <a:xfrm>
            <a:off x="7575261" y="4919563"/>
            <a:ext cx="3746505" cy="560784"/>
          </a:xfrm>
          <a:prstGeom prst="rect">
            <a:avLst/>
          </a:prstGeom>
          <a:noFill/>
          <a:ln/>
        </p:spPr>
        <p:txBody>
          <a:bodyPr wrap="square" lIns="0" tIns="0" rIns="0" bIns="0" rtlCol="0" anchor="t">
            <a:normAutofit/>
          </a:bodyPr>
          <a:lstStyle/>
          <a:p>
            <a:pPr marL="0" indent="0" algn="l">
              <a:lnSpc>
                <a:spcPct val="115000"/>
              </a:lnSpc>
              <a:buNone/>
            </a:pPr>
            <a:r>
              <a:rPr lang="en-US" sz="1600" dirty="0">
                <a:solidFill>
                  <a:srgbClr val="FFFFFF"/>
                </a:solidFill>
                <a:latin typeface="Onest" pitchFamily="34" charset="0"/>
                <a:ea typeface="Onest" pitchFamily="34" charset="-122"/>
                <a:cs typeface="Onest" pitchFamily="34" charset="0"/>
              </a:rPr>
              <a:t>Failed or disconnected runs score +10 penalty.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09585" y="679748"/>
            <a:ext cx="2746802" cy="283865"/>
          </a:xfrm>
          <a:prstGeom prst="roundRect">
            <a:avLst>
              <a:gd name="adj" fmla="val 32212"/>
            </a:avLst>
          </a:prstGeom>
          <a:solidFill>
            <a:srgbClr val="FFC233"/>
          </a:solidFill>
          <a:ln/>
        </p:spPr>
      </p:sp>
      <p:sp>
        <p:nvSpPr>
          <p:cNvPr id="3" name="Text 1"/>
          <p:cNvSpPr/>
          <p:nvPr/>
        </p:nvSpPr>
        <p:spPr>
          <a:xfrm>
            <a:off x="723882" y="728146"/>
            <a:ext cx="3127793"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0D174F"/>
                </a:solidFill>
                <a:latin typeface="Onest SemiBold" pitchFamily="34" charset="0"/>
                <a:ea typeface="Onest SemiBold" pitchFamily="34" charset="-122"/>
                <a:cs typeface="Onest SemiBold" pitchFamily="34" charset="0"/>
              </a:rPr>
              <a:t>06 · EXPERIMENTAL SETUP</a:t>
            </a:r>
            <a:endParaRPr lang="en-US" sz="1300" dirty="0"/>
          </a:p>
        </p:txBody>
      </p:sp>
      <p:sp>
        <p:nvSpPr>
          <p:cNvPr id="4" name="Text 2"/>
          <p:cNvSpPr/>
          <p:nvPr/>
        </p:nvSpPr>
        <p:spPr>
          <a:xfrm>
            <a:off x="609585" y="1201048"/>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0"/>
              </a:rPr>
              <a:t>Three scenarios test a </a:t>
            </a:r>
            <a:r>
              <a:rPr lang="en-US" sz="3400" b="1" kern="100" spc="-85" dirty="0">
                <a:solidFill>
                  <a:srgbClr val="FFC233"/>
                </a:solidFill>
                <a:latin typeface="Familjen Grotesk Bold" pitchFamily="34" charset="0"/>
                <a:ea typeface="Familjen Grotesk Bold" pitchFamily="34" charset="-122"/>
                <a:cs typeface="Familjen Grotesk Bold" pitchFamily="34" charset="0"/>
              </a:rPr>
              <a:t>four-parameter search space</a:t>
            </a:r>
            <a:endParaRPr lang="en-US" sz="3400" dirty="0"/>
          </a:p>
        </p:txBody>
      </p:sp>
      <p:sp>
        <p:nvSpPr>
          <p:cNvPr id="5" name="Text 3"/>
          <p:cNvSpPr/>
          <p:nvPr/>
        </p:nvSpPr>
        <p:spPr>
          <a:xfrm>
            <a:off x="609585" y="1775520"/>
            <a:ext cx="10972526" cy="342900"/>
          </a:xfrm>
          <a:prstGeom prst="rect">
            <a:avLst/>
          </a:prstGeom>
          <a:noFill/>
          <a:ln/>
        </p:spPr>
        <p:txBody>
          <a:bodyPr wrap="none" lIns="0" tIns="0" rIns="0" bIns="0" rtlCol="0" anchor="t"/>
          <a:lstStyle/>
          <a:p>
            <a:pPr marL="0" indent="0" algn="l">
              <a:lnSpc>
                <a:spcPct val="112000"/>
              </a:lnSpc>
              <a:buNone/>
            </a:pPr>
            <a:r>
              <a:rPr lang="en-US" sz="2000" dirty="0">
                <a:solidFill>
                  <a:srgbClr val="B4C2EC"/>
                </a:solidFill>
                <a:latin typeface="Onest" pitchFamily="34" charset="0"/>
                <a:ea typeface="Onest" pitchFamily="34" charset="-122"/>
                <a:cs typeface="Onest" pitchFamily="34" charset="0"/>
              </a:rPr>
              <a:t>Optimiser pack of 10 wolves evaluated across 15 iterations per scenario.</a:t>
            </a:r>
            <a:endParaRPr lang="en-US" sz="2000" dirty="0"/>
          </a:p>
        </p:txBody>
      </p:sp>
      <p:sp>
        <p:nvSpPr>
          <p:cNvPr id="6" name="Text 4"/>
          <p:cNvSpPr/>
          <p:nvPr/>
        </p:nvSpPr>
        <p:spPr>
          <a:xfrm>
            <a:off x="609585" y="2248595"/>
            <a:ext cx="4978275"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0"/>
              </a:rPr>
              <a:t>4D PARAMETER BOUNDS</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2695887957"/>
              </p:ext>
            </p:extLst>
          </p:nvPr>
        </p:nvGraphicFramePr>
        <p:xfrm>
          <a:off x="609585" y="2519660"/>
          <a:ext cx="4978276" cy="3436851"/>
        </p:xfrm>
        <a:graphic>
          <a:graphicData uri="http://schemas.openxmlformats.org/drawingml/2006/table">
            <a:tbl>
              <a:tblPr/>
              <a:tblGrid>
                <a:gridCol w="1991271">
                  <a:extLst>
                    <a:ext uri="{9D8B030D-6E8A-4147-A177-3AD203B41FA5}">
                      <a16:colId xmlns:a16="http://schemas.microsoft.com/office/drawing/2014/main" val="20000"/>
                    </a:ext>
                  </a:extLst>
                </a:gridCol>
                <a:gridCol w="1493403">
                  <a:extLst>
                    <a:ext uri="{9D8B030D-6E8A-4147-A177-3AD203B41FA5}">
                      <a16:colId xmlns:a16="http://schemas.microsoft.com/office/drawing/2014/main" val="20001"/>
                    </a:ext>
                  </a:extLst>
                </a:gridCol>
                <a:gridCol w="1493602">
                  <a:extLst>
                    <a:ext uri="{9D8B030D-6E8A-4147-A177-3AD203B41FA5}">
                      <a16:colId xmlns:a16="http://schemas.microsoft.com/office/drawing/2014/main" val="20002"/>
                    </a:ext>
                  </a:extLst>
                </a:gridCol>
              </a:tblGrid>
              <a:tr h="802064">
                <a:tc>
                  <a:txBody>
                    <a:bodyPr/>
                    <a:lstStyle/>
                    <a:p>
                      <a:pPr marL="0" indent="0" algn="l">
                        <a:buNone/>
                      </a:pPr>
                      <a:r>
                        <a:rPr lang="en-US" sz="1600" dirty="0">
                          <a:solidFill>
                            <a:srgbClr val="FFFFFF"/>
                          </a:solidFill>
                          <a:latin typeface="Onest" pitchFamily="34" charset="0"/>
                          <a:ea typeface="Onest" pitchFamily="34" charset="-122"/>
                          <a:cs typeface="Onest" pitchFamily="34" charset="0"/>
                        </a:rPr>
                        <a:t>Parameter</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Search Range</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Default</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0"/>
                  </a:ext>
                </a:extLst>
              </a:tr>
              <a:tr h="521679">
                <a:tc>
                  <a:txBody>
                    <a:bodyPr/>
                    <a:lstStyle/>
                    <a:p>
                      <a:pPr marL="0" indent="0" algn="l">
                        <a:buNone/>
                      </a:pPr>
                      <a:r>
                        <a:rPr lang="en-US" sz="1600" dirty="0">
                          <a:solidFill>
                            <a:srgbClr val="E9EEFF"/>
                          </a:solidFill>
                          <a:latin typeface="Onest" pitchFamily="34" charset="0"/>
                          <a:ea typeface="Onest" pitchFamily="34" charset="-122"/>
                          <a:cs typeface="Onest" pitchFamily="34" charset="0"/>
                        </a:rPr>
                        <a:t>Update Interval</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5.0 – 30.0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15.0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1"/>
                  </a:ext>
                </a:extLst>
              </a:tr>
              <a:tr h="521679">
                <a:tc>
                  <a:txBody>
                    <a:bodyPr/>
                    <a:lstStyle/>
                    <a:p>
                      <a:pPr marL="0" indent="0" algn="l">
                        <a:buNone/>
                      </a:pPr>
                      <a:r>
                        <a:rPr lang="en-US" sz="1600" dirty="0">
                          <a:solidFill>
                            <a:srgbClr val="E9EEFF"/>
                          </a:solidFill>
                          <a:latin typeface="Onest" pitchFamily="34" charset="0"/>
                          <a:ea typeface="Onest" pitchFamily="34" charset="-122"/>
                          <a:cs typeface="Onest" pitchFamily="34" charset="0"/>
                        </a:rPr>
                        <a:t>Settling Time</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1.0 – 15.0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6.0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2"/>
                  </a:ext>
                </a:extLst>
              </a:tr>
              <a:tr h="802064">
                <a:tc>
                  <a:txBody>
                    <a:bodyPr/>
                    <a:lstStyle/>
                    <a:p>
                      <a:pPr marL="0" indent="0" algn="l">
                        <a:buNone/>
                      </a:pPr>
                      <a:r>
                        <a:rPr lang="en-US" sz="1600" dirty="0">
                          <a:solidFill>
                            <a:srgbClr val="E9EEFF"/>
                          </a:solidFill>
                          <a:latin typeface="Onest" pitchFamily="34" charset="0"/>
                          <a:ea typeface="Onest" pitchFamily="34" charset="-122"/>
                          <a:cs typeface="Onest" pitchFamily="34" charset="0"/>
                        </a:rPr>
                        <a:t>Queue Length</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16 – 256 pkts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64 pkts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3"/>
                  </a:ext>
                </a:extLst>
              </a:tr>
              <a:tr h="789365">
                <a:tc>
                  <a:txBody>
                    <a:bodyPr/>
                    <a:lstStyle/>
                    <a:p>
                      <a:pPr marL="0" indent="0" algn="l">
                        <a:buNone/>
                      </a:pPr>
                      <a:r>
                        <a:rPr lang="en-US" sz="1600" dirty="0">
                          <a:solidFill>
                            <a:srgbClr val="E9EEFF"/>
                          </a:solidFill>
                          <a:latin typeface="Onest" pitchFamily="34" charset="0"/>
                          <a:ea typeface="Onest" pitchFamily="34" charset="-122"/>
                          <a:cs typeface="Onest" pitchFamily="34" charset="0"/>
                        </a:rPr>
                        <a:t>Queue Time</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550" dirty="0">
                          <a:solidFill>
                            <a:srgbClr val="E9EEFF"/>
                          </a:solidFill>
                          <a:latin typeface="Onest" pitchFamily="34" charset="0"/>
                          <a:ea typeface="Onest" pitchFamily="34" charset="-122"/>
                          <a:cs typeface="Onest" pitchFamily="34" charset="0"/>
                        </a:rPr>
                        <a:t>5.0 – 120.0 s</a:t>
                      </a:r>
                      <a:endParaRPr lang="en-US" sz="155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30.0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5"/>
          <p:cNvSpPr/>
          <p:nvPr/>
        </p:nvSpPr>
        <p:spPr>
          <a:xfrm>
            <a:off x="5892553" y="2248595"/>
            <a:ext cx="5689557"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0"/>
              </a:rPr>
              <a:t>TEST SCENARIO DEFINITIONS</a:t>
            </a:r>
            <a:endParaRPr lang="en-US" sz="10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92553" y="2519660"/>
          <a:ext cx="5689556" cy="3195557"/>
        </p:xfrm>
        <a:graphic>
          <a:graphicData uri="http://schemas.openxmlformats.org/drawingml/2006/table">
            <a:tbl>
              <a:tblPr/>
              <a:tblGrid>
                <a:gridCol w="1593016">
                  <a:extLst>
                    <a:ext uri="{9D8B030D-6E8A-4147-A177-3AD203B41FA5}">
                      <a16:colId xmlns:a16="http://schemas.microsoft.com/office/drawing/2014/main" val="20000"/>
                    </a:ext>
                  </a:extLst>
                </a:gridCol>
                <a:gridCol w="1365414">
                  <a:extLst>
                    <a:ext uri="{9D8B030D-6E8A-4147-A177-3AD203B41FA5}">
                      <a16:colId xmlns:a16="http://schemas.microsoft.com/office/drawing/2014/main" val="20001"/>
                    </a:ext>
                  </a:extLst>
                </a:gridCol>
                <a:gridCol w="1365414">
                  <a:extLst>
                    <a:ext uri="{9D8B030D-6E8A-4147-A177-3AD203B41FA5}">
                      <a16:colId xmlns:a16="http://schemas.microsoft.com/office/drawing/2014/main" val="20002"/>
                    </a:ext>
                  </a:extLst>
                </a:gridCol>
                <a:gridCol w="1365712">
                  <a:extLst>
                    <a:ext uri="{9D8B030D-6E8A-4147-A177-3AD203B41FA5}">
                      <a16:colId xmlns:a16="http://schemas.microsoft.com/office/drawing/2014/main" val="20003"/>
                    </a:ext>
                  </a:extLst>
                </a:gridCol>
              </a:tblGrid>
              <a:tr h="802064">
                <a:tc>
                  <a:txBody>
                    <a:bodyPr/>
                    <a:lstStyle/>
                    <a:p>
                      <a:pPr marL="0" indent="0" algn="l">
                        <a:buNone/>
                      </a:pPr>
                      <a:r>
                        <a:rPr lang="en-US" sz="1600" dirty="0">
                          <a:solidFill>
                            <a:srgbClr val="FFFFFF"/>
                          </a:solidFill>
                          <a:latin typeface="Onest" pitchFamily="34" charset="0"/>
                          <a:ea typeface="Onest" pitchFamily="34" charset="-122"/>
                          <a:cs typeface="Onest" pitchFamily="34" charset="0"/>
                        </a:rPr>
                        <a:t>Scenario</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Nodes &amp; Flows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Mobility Speed</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Trials &amp; Time</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0"/>
                  </a:ext>
                </a:extLst>
              </a:tr>
              <a:tr h="802064">
                <a:tc>
                  <a:txBody>
                    <a:bodyPr/>
                    <a:lstStyle/>
                    <a:p>
                      <a:pPr marL="0" indent="0" algn="l">
                        <a:buNone/>
                      </a:pPr>
                      <a:r>
                        <a:rPr lang="en-US" sz="1600" b="1" dirty="0">
                          <a:solidFill>
                            <a:srgbClr val="E9EEFF"/>
                          </a:solidFill>
                          <a:latin typeface="Onest" pitchFamily="34" charset="0"/>
                          <a:ea typeface="Onest" pitchFamily="34" charset="-122"/>
                          <a:cs typeface="Onest" pitchFamily="34" charset="0"/>
                        </a:rPr>
                        <a:t>Small</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15 nodes, 4 flows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1 – 10 m/s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3 seeds, 60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1"/>
                  </a:ext>
                </a:extLst>
              </a:tr>
              <a:tr h="802064">
                <a:tc>
                  <a:txBody>
                    <a:bodyPr/>
                    <a:lstStyle/>
                    <a:p>
                      <a:pPr marL="0" indent="0" algn="l">
                        <a:buNone/>
                      </a:pPr>
                      <a:r>
                        <a:rPr lang="en-US" sz="1600" b="1" dirty="0">
                          <a:solidFill>
                            <a:srgbClr val="E9EEFF"/>
                          </a:solidFill>
                          <a:latin typeface="Onest" pitchFamily="34" charset="0"/>
                          <a:ea typeface="Onest" pitchFamily="34" charset="-122"/>
                          <a:cs typeface="Onest" pitchFamily="34" charset="0"/>
                        </a:rPr>
                        <a:t>Medium</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20 nodes, 5 flows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1 – 10 m/s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5 seeds, 100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2"/>
                  </a:ext>
                </a:extLst>
              </a:tr>
              <a:tr h="789365">
                <a:tc>
                  <a:txBody>
                    <a:bodyPr/>
                    <a:lstStyle/>
                    <a:p>
                      <a:pPr marL="0" indent="0" algn="l">
                        <a:buNone/>
                      </a:pPr>
                      <a:r>
                        <a:rPr lang="en-US" sz="1600" b="1" dirty="0">
                          <a:solidFill>
                            <a:srgbClr val="E9EEFF"/>
                          </a:solidFill>
                          <a:latin typeface="Onest" pitchFamily="34" charset="0"/>
                          <a:ea typeface="Onest" pitchFamily="34" charset="-122"/>
                          <a:cs typeface="Onest" pitchFamily="34" charset="0"/>
                        </a:rPr>
                        <a:t>High Mobility</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20 nodes, 5 flows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5 – 20 m/s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0"/>
                        </a:rPr>
                        <a:t>5 seeds, 100 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6"/>
          <p:cNvSpPr/>
          <p:nvPr/>
        </p:nvSpPr>
        <p:spPr>
          <a:xfrm>
            <a:off x="609585" y="6109156"/>
            <a:ext cx="11582110" cy="272355"/>
          </a:xfrm>
          <a:prstGeom prst="rect">
            <a:avLst/>
          </a:prstGeom>
          <a:noFill/>
          <a:ln/>
        </p:spPr>
        <p:txBody>
          <a:bodyPr wrap="none" lIns="0" tIns="76198" rIns="0" bIns="0" rtlCol="0" anchor="t"/>
          <a:lstStyle/>
          <a:p>
            <a:pPr marL="0" indent="0" algn="l">
              <a:lnSpc>
                <a:spcPct val="108000"/>
              </a:lnSpc>
              <a:buNone/>
            </a:pPr>
            <a:r>
              <a:rPr lang="en-US" sz="1150" kern="100" spc="11" dirty="0">
                <a:solidFill>
                  <a:srgbClr val="B4C2EC"/>
                </a:solidFill>
                <a:latin typeface="Onest" pitchFamily="34" charset="0"/>
                <a:ea typeface="Onest" pitchFamily="34" charset="-122"/>
                <a:cs typeface="Onest" pitchFamily="34" charset="0"/>
              </a:rPr>
              <a:t>Optimization parameters: 10 grey wolves, 15 search iterations. Multi-seed simulation ensures statistical validation across stochastic mobility runs.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09585" y="609600"/>
            <a:ext cx="2654333" cy="283865"/>
          </a:xfrm>
          <a:prstGeom prst="roundRect">
            <a:avLst>
              <a:gd name="adj" fmla="val 32212"/>
            </a:avLst>
          </a:prstGeom>
          <a:solidFill>
            <a:srgbClr val="071C45"/>
          </a:solidFill>
          <a:ln/>
        </p:spPr>
      </p:sp>
      <p:sp>
        <p:nvSpPr>
          <p:cNvPr id="3" name="Text 1"/>
          <p:cNvSpPr/>
          <p:nvPr/>
        </p:nvSpPr>
        <p:spPr>
          <a:xfrm>
            <a:off x="723882" y="657999"/>
            <a:ext cx="3035323" cy="194965"/>
          </a:xfrm>
          <a:prstGeom prst="rect">
            <a:avLst/>
          </a:prstGeom>
          <a:noFill/>
          <a:ln/>
        </p:spPr>
        <p:txBody>
          <a:bodyPr wrap="none" lIns="0" tIns="0" rIns="0" bIns="0" rtlCol="0" anchor="t"/>
          <a:lstStyle/>
          <a:p>
            <a:pPr marL="0" indent="0" algn="l">
              <a:lnSpc>
                <a:spcPct val="100000"/>
              </a:lnSpc>
              <a:buNone/>
            </a:pPr>
            <a:r>
              <a:rPr lang="en-US" sz="1300" kern="100" spc="128" dirty="0">
                <a:solidFill>
                  <a:srgbClr val="E9EEFF"/>
                </a:solidFill>
                <a:latin typeface="Onest SemiBold" pitchFamily="34" charset="0"/>
                <a:ea typeface="Onest SemiBold" pitchFamily="34" charset="-122"/>
                <a:cs typeface="Onest SemiBold" pitchFamily="34" charset="0"/>
              </a:rPr>
              <a:t>07 · RESULTS &amp; ANALYSIS</a:t>
            </a:r>
            <a:endParaRPr lang="en-US" sz="1300" dirty="0"/>
          </a:p>
        </p:txBody>
      </p:sp>
      <p:sp>
        <p:nvSpPr>
          <p:cNvPr id="4" name="Text 2"/>
          <p:cNvSpPr/>
          <p:nvPr/>
        </p:nvSpPr>
        <p:spPr>
          <a:xfrm>
            <a:off x="609585" y="1130900"/>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0"/>
              </a:rPr>
              <a:t>GWO lifts delivery ratio </a:t>
            </a:r>
            <a:r>
              <a:rPr lang="en-US" sz="3400" b="1" kern="100" spc="-85" dirty="0">
                <a:solidFill>
                  <a:srgbClr val="9BD33A"/>
                </a:solidFill>
                <a:latin typeface="Familjen Grotesk Bold" pitchFamily="34" charset="0"/>
                <a:ea typeface="Familjen Grotesk Bold" pitchFamily="34" charset="-122"/>
                <a:cs typeface="Familjen Grotesk Bold" pitchFamily="34" charset="0"/>
              </a:rPr>
              <a:t>30–59%,</a:t>
            </a:r>
            <a:r>
              <a:rPr lang="en-US" sz="3400" b="1" kern="100" spc="-85" dirty="0">
                <a:solidFill>
                  <a:srgbClr val="FFFFFF"/>
                </a:solidFill>
                <a:latin typeface="Familjen Grotesk Bold" pitchFamily="34" charset="0"/>
                <a:ea typeface="Familjen Grotesk Bold" pitchFamily="34" charset="-122"/>
                <a:cs typeface="Familjen Grotesk Bold" pitchFamily="34" charset="0"/>
              </a:rPr>
              <a:t> at the cost of overhead</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52647563"/>
              </p:ext>
            </p:extLst>
          </p:nvPr>
        </p:nvGraphicFramePr>
        <p:xfrm>
          <a:off x="609585" y="2010172"/>
          <a:ext cx="7823004" cy="3405697"/>
        </p:xfrm>
        <a:graphic>
          <a:graphicData uri="http://schemas.openxmlformats.org/drawingml/2006/table">
            <a:tbl>
              <a:tblPr/>
              <a:tblGrid>
                <a:gridCol w="1197739">
                  <a:extLst>
                    <a:ext uri="{9D8B030D-6E8A-4147-A177-3AD203B41FA5}">
                      <a16:colId xmlns:a16="http://schemas.microsoft.com/office/drawing/2014/main" val="20000"/>
                    </a:ext>
                  </a:extLst>
                </a:gridCol>
                <a:gridCol w="1043061">
                  <a:extLst>
                    <a:ext uri="{9D8B030D-6E8A-4147-A177-3AD203B41FA5}">
                      <a16:colId xmlns:a16="http://schemas.microsoft.com/office/drawing/2014/main" val="20001"/>
                    </a:ext>
                  </a:extLst>
                </a:gridCol>
                <a:gridCol w="1049807">
                  <a:extLst>
                    <a:ext uri="{9D8B030D-6E8A-4147-A177-3AD203B41FA5}">
                      <a16:colId xmlns:a16="http://schemas.microsoft.com/office/drawing/2014/main" val="20002"/>
                    </a:ext>
                  </a:extLst>
                </a:gridCol>
                <a:gridCol w="1785099">
                  <a:extLst>
                    <a:ext uri="{9D8B030D-6E8A-4147-A177-3AD203B41FA5}">
                      <a16:colId xmlns:a16="http://schemas.microsoft.com/office/drawing/2014/main" val="20003"/>
                    </a:ext>
                  </a:extLst>
                </a:gridCol>
                <a:gridCol w="1427722">
                  <a:extLst>
                    <a:ext uri="{9D8B030D-6E8A-4147-A177-3AD203B41FA5}">
                      <a16:colId xmlns:a16="http://schemas.microsoft.com/office/drawing/2014/main" val="20004"/>
                    </a:ext>
                  </a:extLst>
                </a:gridCol>
                <a:gridCol w="1319576">
                  <a:extLst>
                    <a:ext uri="{9D8B030D-6E8A-4147-A177-3AD203B41FA5}">
                      <a16:colId xmlns:a16="http://schemas.microsoft.com/office/drawing/2014/main" val="20005"/>
                    </a:ext>
                  </a:extLst>
                </a:gridCol>
              </a:tblGrid>
              <a:tr h="802064">
                <a:tc>
                  <a:txBody>
                    <a:bodyPr/>
                    <a:lstStyle/>
                    <a:p>
                      <a:pPr marL="0" indent="0" algn="l">
                        <a:buNone/>
                      </a:pPr>
                      <a:r>
                        <a:rPr lang="en-US" sz="1600" dirty="0">
                          <a:solidFill>
                            <a:srgbClr val="FFFFFF"/>
                          </a:solidFill>
                          <a:latin typeface="Onest" pitchFamily="34" charset="0"/>
                          <a:ea typeface="Onest" pitchFamily="34" charset="-122"/>
                          <a:cs typeface="Onest" pitchFamily="34" charset="0"/>
                        </a:rPr>
                        <a:t>Scenario</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Default PDR</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GWO PDR</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Stat. Significance</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Throughput (kbps)</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0"/>
                        </a:rPr>
                        <a:t>Overhead</a:t>
                      </a:r>
                      <a:endParaRPr lang="en-US" sz="16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0"/>
                  </a:ext>
                </a:extLst>
              </a:tr>
              <a:tr h="872111">
                <a:tc>
                  <a:txBody>
                    <a:bodyPr/>
                    <a:lstStyle/>
                    <a:p>
                      <a:pPr marL="0" indent="0" algn="l">
                        <a:buNone/>
                      </a:pPr>
                      <a:r>
                        <a:rPr lang="en-US" sz="1800" dirty="0">
                          <a:solidFill>
                            <a:srgbClr val="E9EEFF"/>
                          </a:solidFill>
                          <a:latin typeface="Onest" pitchFamily="34" charset="0"/>
                          <a:ea typeface="Onest" pitchFamily="34" charset="-122"/>
                          <a:cs typeface="Onest" pitchFamily="34" charset="0"/>
                        </a:rPr>
                        <a:t>Small</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64.7%</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b="1" dirty="0">
                          <a:solidFill>
                            <a:srgbClr val="E9EEFF"/>
                          </a:solidFill>
                          <a:latin typeface="Onest" pitchFamily="34" charset="0"/>
                          <a:ea typeface="Onest" pitchFamily="34" charset="-122"/>
                          <a:cs typeface="Onest" pitchFamily="34" charset="0"/>
                        </a:rPr>
                        <a:t>84.0%</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9BD33A"/>
                          </a:solidFill>
                          <a:latin typeface="Onest" pitchFamily="34" charset="0"/>
                          <a:ea typeface="Onest" pitchFamily="34" charset="-122"/>
                          <a:cs typeface="Onest" pitchFamily="34" charset="0"/>
                        </a:rPr>
                        <a:t>+29.7%</a:t>
                      </a:r>
                      <a:r>
                        <a:rPr lang="en-US" sz="1800" dirty="0">
                          <a:solidFill>
                            <a:srgbClr val="E9EEFF"/>
                          </a:solidFill>
                          <a:latin typeface="Onest" pitchFamily="34" charset="0"/>
                          <a:ea typeface="Onest" pitchFamily="34" charset="-122"/>
                          <a:cs typeface="Onest" pitchFamily="34" charset="0"/>
                        </a:rPr>
                        <a:t> (p=0.0379)</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34.8 → 45.2</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0.49 → 0.74</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1"/>
                  </a:ext>
                </a:extLst>
              </a:tr>
              <a:tr h="872111">
                <a:tc>
                  <a:txBody>
                    <a:bodyPr/>
                    <a:lstStyle/>
                    <a:p>
                      <a:pPr marL="0" indent="0" algn="l">
                        <a:buNone/>
                      </a:pPr>
                      <a:r>
                        <a:rPr lang="en-US" sz="1800" dirty="0">
                          <a:solidFill>
                            <a:srgbClr val="E9EEFF"/>
                          </a:solidFill>
                          <a:latin typeface="Onest" pitchFamily="34" charset="0"/>
                          <a:ea typeface="Onest" pitchFamily="34" charset="-122"/>
                          <a:cs typeface="Onest" pitchFamily="34" charset="0"/>
                        </a:rPr>
                        <a:t>Medium</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61.5%</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b="1" dirty="0">
                          <a:solidFill>
                            <a:srgbClr val="E9EEFF"/>
                          </a:solidFill>
                          <a:latin typeface="Onest" pitchFamily="34" charset="0"/>
                          <a:ea typeface="Onest" pitchFamily="34" charset="-122"/>
                          <a:cs typeface="Onest" pitchFamily="34" charset="0"/>
                        </a:rPr>
                        <a:t>80.0%</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9BD33A"/>
                          </a:solidFill>
                          <a:latin typeface="Onest" pitchFamily="34" charset="0"/>
                          <a:ea typeface="Onest" pitchFamily="34" charset="-122"/>
                          <a:cs typeface="Onest" pitchFamily="34" charset="0"/>
                        </a:rPr>
                        <a:t>+30.1%</a:t>
                      </a:r>
                      <a:r>
                        <a:rPr lang="en-US" sz="1800" dirty="0">
                          <a:solidFill>
                            <a:srgbClr val="E9EEFF"/>
                          </a:solidFill>
                          <a:latin typeface="Onest" pitchFamily="34" charset="0"/>
                          <a:ea typeface="Onest" pitchFamily="34" charset="-122"/>
                          <a:cs typeface="Onest" pitchFamily="34" charset="0"/>
                        </a:rPr>
                        <a:t> (p=0.0064)</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40.8 → 53.1</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0.60 → 0.80</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extLst>
                  <a:ext uri="{0D108BD9-81ED-4DB2-BD59-A6C34878D82A}">
                    <a16:rowId xmlns:a16="http://schemas.microsoft.com/office/drawing/2014/main" val="10002"/>
                  </a:ext>
                </a:extLst>
              </a:tr>
              <a:tr h="859411">
                <a:tc>
                  <a:txBody>
                    <a:bodyPr/>
                    <a:lstStyle/>
                    <a:p>
                      <a:pPr marL="0" indent="0" algn="l">
                        <a:buNone/>
                      </a:pPr>
                      <a:r>
                        <a:rPr lang="en-US" sz="1800" dirty="0">
                          <a:solidFill>
                            <a:srgbClr val="E9EEFF"/>
                          </a:solidFill>
                          <a:latin typeface="Onest" pitchFamily="34" charset="0"/>
                          <a:ea typeface="Onest" pitchFamily="34" charset="-122"/>
                          <a:cs typeface="Onest" pitchFamily="34" charset="0"/>
                        </a:rPr>
                        <a:t>High mobility</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39.7%</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800" b="1" dirty="0">
                          <a:solidFill>
                            <a:srgbClr val="E9EEFF"/>
                          </a:solidFill>
                          <a:latin typeface="Onest" pitchFamily="34" charset="0"/>
                          <a:ea typeface="Onest" pitchFamily="34" charset="-122"/>
                          <a:cs typeface="Onest" pitchFamily="34" charset="0"/>
                        </a:rPr>
                        <a:t>63.1%</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800" dirty="0">
                          <a:solidFill>
                            <a:srgbClr val="9BD33A"/>
                          </a:solidFill>
                          <a:latin typeface="Onest" pitchFamily="34" charset="0"/>
                          <a:ea typeface="Onest" pitchFamily="34" charset="-122"/>
                          <a:cs typeface="Onest" pitchFamily="34" charset="0"/>
                        </a:rPr>
                        <a:t>+58.9%</a:t>
                      </a:r>
                      <a:r>
                        <a:rPr lang="en-US" sz="1800" dirty="0">
                          <a:solidFill>
                            <a:srgbClr val="E9EEFF"/>
                          </a:solidFill>
                          <a:latin typeface="Onest" pitchFamily="34" charset="0"/>
                          <a:ea typeface="Onest" pitchFamily="34" charset="-122"/>
                          <a:cs typeface="Onest" pitchFamily="34" charset="0"/>
                        </a:rPr>
                        <a:t> </a:t>
                      </a:r>
                      <a:r>
                        <a:rPr lang="en-US" sz="1750" dirty="0">
                          <a:solidFill>
                            <a:srgbClr val="E9EEFF"/>
                          </a:solidFill>
                          <a:latin typeface="Onest" pitchFamily="34" charset="0"/>
                          <a:ea typeface="Onest" pitchFamily="34" charset="-122"/>
                          <a:cs typeface="Onest" pitchFamily="34" charset="0"/>
                        </a:rPr>
                        <a:t>(p=0.000025)</a:t>
                      </a:r>
                      <a:endParaRPr lang="en-US" sz="175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26.5 → 42.1</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marL="0" indent="0" algn="l">
                        <a:buNone/>
                      </a:pPr>
                      <a:r>
                        <a:rPr lang="en-US" sz="1800" dirty="0">
                          <a:solidFill>
                            <a:srgbClr val="E9EEFF"/>
                          </a:solidFill>
                          <a:latin typeface="Onest" pitchFamily="34" charset="0"/>
                          <a:ea typeface="Onest" pitchFamily="34" charset="-122"/>
                          <a:cs typeface="Onest" pitchFamily="34" charset="0"/>
                        </a:rPr>
                        <a:t>0.61 → 0.82</a:t>
                      </a:r>
                      <a:endParaRPr lang="en-US" sz="1800" dirty="0">
                        <a:latin typeface="Onest" charset="0"/>
                        <a:ea typeface="Onest" charset="0"/>
                        <a:cs typeface="Onest" charset="0"/>
                      </a:endParaRPr>
                    </a:p>
                  </a:txBody>
                  <a:tcPr marL="152396" marR="152396" marT="114297" marB="114297"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8737282" y="1781572"/>
            <a:ext cx="2844828" cy="4689277"/>
          </a:xfrm>
          <a:prstGeom prst="roundRect">
            <a:avLst>
              <a:gd name="adj" fmla="val 4286"/>
            </a:avLst>
          </a:prstGeom>
          <a:solidFill>
            <a:srgbClr val="152060"/>
          </a:solidFill>
          <a:ln w="6350">
            <a:solidFill>
              <a:srgbClr val="2B3A80"/>
            </a:solidFill>
            <a:prstDash val="solid"/>
          </a:ln>
        </p:spPr>
      </p:sp>
      <p:sp>
        <p:nvSpPr>
          <p:cNvPr id="7" name="Text 4"/>
          <p:cNvSpPr/>
          <p:nvPr/>
        </p:nvSpPr>
        <p:spPr>
          <a:xfrm>
            <a:off x="8921428" y="1968897"/>
            <a:ext cx="2660683"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E9EEFF"/>
                </a:solidFill>
                <a:latin typeface="Onest SemiBold" pitchFamily="34" charset="0"/>
                <a:ea typeface="Onest SemiBold" pitchFamily="34" charset="-122"/>
                <a:cs typeface="Onest SemiBold" pitchFamily="34" charset="0"/>
              </a:rPr>
              <a:t>LEARNED POLICY</a:t>
            </a:r>
            <a:endParaRPr lang="en-US" sz="1050" dirty="0"/>
          </a:p>
        </p:txBody>
      </p:sp>
      <p:sp>
        <p:nvSpPr>
          <p:cNvPr id="8" name="Text 5"/>
          <p:cNvSpPr/>
          <p:nvPr/>
        </p:nvSpPr>
        <p:spPr>
          <a:xfrm>
            <a:off x="8921428" y="2227263"/>
            <a:ext cx="2476537" cy="1261666"/>
          </a:xfrm>
          <a:prstGeom prst="rect">
            <a:avLst/>
          </a:prstGeom>
          <a:noFill/>
          <a:ln/>
        </p:spPr>
        <p:txBody>
          <a:bodyPr wrap="square" lIns="0" tIns="0" rIns="0" bIns="0" rtlCol="0" anchor="t">
            <a:normAutofit/>
          </a:bodyPr>
          <a:lstStyle/>
          <a:p>
            <a:pPr marL="0" indent="0" algn="l">
              <a:lnSpc>
                <a:spcPct val="115000"/>
              </a:lnSpc>
              <a:buNone/>
            </a:pPr>
            <a:r>
              <a:rPr lang="en-US" sz="1800" dirty="0">
                <a:solidFill>
                  <a:srgbClr val="E9EEFF"/>
                </a:solidFill>
                <a:latin typeface="Onest" pitchFamily="34" charset="0"/>
                <a:ea typeface="Onest" pitchFamily="34" charset="-122"/>
                <a:cs typeface="Onest" pitchFamily="34" charset="0"/>
              </a:rPr>
              <a:t>Update interval 15 s to about 5.5 s; settling time 6 s to 2.5–3.9 s; queue 64 to 106–113.</a:t>
            </a:r>
            <a:endParaRPr lang="en-US" sz="1800" dirty="0"/>
          </a:p>
        </p:txBody>
      </p:sp>
      <p:sp>
        <p:nvSpPr>
          <p:cNvPr id="5" name="Shape 6"/>
          <p:cNvSpPr/>
          <p:nvPr/>
        </p:nvSpPr>
        <p:spPr>
          <a:xfrm>
            <a:off x="8921428" y="3639741"/>
            <a:ext cx="2476438" cy="31651"/>
          </a:xfrm>
          <a:prstGeom prst="roundRect">
            <a:avLst>
              <a:gd name="adj" fmla="val 49998"/>
            </a:avLst>
          </a:prstGeom>
          <a:solidFill>
            <a:srgbClr val="3A4C9A"/>
          </a:solidFill>
          <a:ln/>
        </p:spPr>
      </p:sp>
      <p:sp>
        <p:nvSpPr>
          <p:cNvPr id="10" name="Text 7"/>
          <p:cNvSpPr/>
          <p:nvPr/>
        </p:nvSpPr>
        <p:spPr>
          <a:xfrm>
            <a:off x="8921428" y="3822462"/>
            <a:ext cx="2660683"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0"/>
              </a:rPr>
              <a:t>TRADE-OFF</a:t>
            </a:r>
            <a:endParaRPr lang="en-US" sz="1150" dirty="0"/>
          </a:p>
        </p:txBody>
      </p:sp>
      <p:sp>
        <p:nvSpPr>
          <p:cNvPr id="11" name="Text 8"/>
          <p:cNvSpPr/>
          <p:nvPr/>
        </p:nvSpPr>
        <p:spPr>
          <a:xfrm>
            <a:off x="8921428" y="4189909"/>
            <a:ext cx="2476537" cy="960041"/>
          </a:xfrm>
          <a:prstGeom prst="rect">
            <a:avLst/>
          </a:prstGeom>
          <a:noFill/>
          <a:ln/>
        </p:spPr>
        <p:txBody>
          <a:bodyPr wrap="square" lIns="0" tIns="0" rIns="0" bIns="0" rtlCol="0" anchor="t">
            <a:normAutofit/>
          </a:bodyPr>
          <a:lstStyle/>
          <a:p>
            <a:pPr marL="0" indent="0" algn="l">
              <a:lnSpc>
                <a:spcPct val="113000"/>
              </a:lnSpc>
              <a:buNone/>
            </a:pPr>
            <a:r>
              <a:rPr lang="en-US" sz="2800" dirty="0">
                <a:solidFill>
                  <a:srgbClr val="E9EEFF"/>
                </a:solidFill>
                <a:latin typeface="Onest" pitchFamily="34" charset="0"/>
                <a:ea typeface="Onest" pitchFamily="34" charset="-122"/>
                <a:cs typeface="Onest" pitchFamily="34" charset="0"/>
              </a:rPr>
              <a:t>Overhead 0.60 → 0.80</a:t>
            </a:r>
            <a:endParaRPr lang="en-US" sz="2800" dirty="0"/>
          </a:p>
        </p:txBody>
      </p:sp>
      <p:sp>
        <p:nvSpPr>
          <p:cNvPr id="12" name="Text 9"/>
          <p:cNvSpPr/>
          <p:nvPr/>
        </p:nvSpPr>
        <p:spPr>
          <a:xfrm>
            <a:off x="8921428" y="5340449"/>
            <a:ext cx="2476537" cy="946249"/>
          </a:xfrm>
          <a:prstGeom prst="rect">
            <a:avLst/>
          </a:prstGeom>
          <a:noFill/>
          <a:ln/>
        </p:spPr>
        <p:txBody>
          <a:bodyPr wrap="square" lIns="0" tIns="0" rIns="0" bIns="0" rtlCol="0" anchor="t">
            <a:normAutofit/>
          </a:bodyPr>
          <a:lstStyle/>
          <a:p>
            <a:pPr marL="0" indent="0" algn="l">
              <a:lnSpc>
                <a:spcPct val="115000"/>
              </a:lnSpc>
              <a:buNone/>
            </a:pPr>
            <a:r>
              <a:rPr lang="en-US" sz="1800" dirty="0">
                <a:solidFill>
                  <a:srgbClr val="E9EEFF"/>
                </a:solidFill>
                <a:latin typeface="Onest" pitchFamily="34" charset="0"/>
                <a:ea typeface="Onest" pitchFamily="34" charset="-122"/>
                <a:cs typeface="Onest" pitchFamily="34" charset="0"/>
              </a:rPr>
              <a:t>Delay stays under 9 ms and is not significant.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3202308"/>
            <a:ext cx="10972526" cy="569913"/>
          </a:xfrm>
          <a:prstGeom prst="rect">
            <a:avLst/>
          </a:prstGeom>
          <a:noFill/>
          <a:ln/>
        </p:spPr>
        <p:txBody>
          <a:bodyPr wrap="none" lIns="0" tIns="0" rIns="0" bIns="0" rtlCol="0" anchor="t"/>
          <a:lstStyle/>
          <a:p>
            <a:pPr marL="0" indent="0" algn="ctr">
              <a:lnSpc>
                <a:spcPct val="85000"/>
              </a:lnSpc>
              <a:buNone/>
            </a:pPr>
            <a:r>
              <a:rPr lang="en-US" sz="4400" b="1" kern="100" spc="-110" dirty="0">
                <a:solidFill>
                  <a:srgbClr val="FFFFFF"/>
                </a:solidFill>
                <a:latin typeface="Familjen Grotesk Bold" pitchFamily="34" charset="0"/>
                <a:ea typeface="Familjen Grotesk Bold" pitchFamily="34" charset="-122"/>
                <a:cs typeface="Familjen Grotesk Bold" pitchFamily="34" charset="0"/>
              </a:rPr>
              <a:t>Thank you</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1381</Words>
  <Application>Microsoft Office PowerPoint</Application>
  <PresentationFormat>Widescreen</PresentationFormat>
  <Paragraphs>169</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Familjen Grotesk Bold</vt:lpstr>
      <vt:lpstr>Consolas</vt:lpstr>
      <vt:lpstr>Onest</vt:lpstr>
      <vt:lpstr>Arial</vt:lpstr>
      <vt:lpstr>Onest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lastModifiedBy>Manshu Jaiswal</cp:lastModifiedBy>
  <cp:revision>2</cp:revision>
  <dcterms:created xsi:type="dcterms:W3CDTF">2026-10-25T10:55:06Z</dcterms:created>
  <dcterms:modified xsi:type="dcterms:W3CDTF">2026-10-25T11:01:20Z</dcterms:modified>
</cp:coreProperties>
</file>